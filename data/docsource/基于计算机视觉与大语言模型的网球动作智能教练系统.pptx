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37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70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701" y="2080766"/>
            <a:ext cx="3782669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基于计算机视觉与大语言模型的网球动作智能教练系统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01" y="3015109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3192809"/>
            <a:ext cx="3782669" cy="27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</a:t>
            </a:r>
            <a:r>
              <a:rPr lang="zh-CN" alt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：栾乐礼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59401" y="1746200"/>
            <a:ext cx="1650950" cy="1650950"/>
          </a:xfrm>
          <a:prstGeom prst="roundRect">
            <a:avLst>
              <a:gd name="adj" fmla="val 55386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901" y="1936700"/>
            <a:ext cx="1269950" cy="1269950"/>
          </a:xfrm>
          <a:prstGeom prst="roundRect">
            <a:avLst>
              <a:gd name="adj" fmla="val 72003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14951" y="2101751"/>
            <a:ext cx="939701" cy="939701"/>
          </a:xfrm>
          <a:prstGeom prst="roundRect">
            <a:avLst>
              <a:gd name="adj" fmla="val 97308"/>
            </a:avLst>
          </a:prstGeom>
          <a:solidFill>
            <a:srgbClr val="1624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80014" y="2304901"/>
            <a:ext cx="4177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32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BB825C9A-E237-AA91-6A30-CAF27C525940}"/>
              </a:ext>
            </a:extLst>
          </p:cNvPr>
          <p:cNvSpPr/>
          <p:nvPr/>
        </p:nvSpPr>
        <p:spPr>
          <a:xfrm>
            <a:off x="558701" y="1687269"/>
            <a:ext cx="3782669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复旦大学计算机实践工作站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92013"/>
            <a:ext cx="50750" cy="2793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355550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961876"/>
            <a:ext cx="2590800" cy="444401"/>
          </a:xfrm>
          <a:prstGeom prst="roundRect">
            <a:avLst>
              <a:gd name="adj" fmla="val 17147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0626" y="10697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5927" y="1079707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0727" y="10602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8701" y="1482477"/>
            <a:ext cx="2590800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641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7902" y="15586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8701" y="1939677"/>
            <a:ext cx="2590800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098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7902" y="2015877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76451" y="961876"/>
            <a:ext cx="2590949" cy="444401"/>
          </a:xfrm>
          <a:prstGeom prst="roundRect">
            <a:avLst>
              <a:gd name="adj" fmla="val 17147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38376" y="10697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76647" y="1079707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68477" y="10602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76451" y="14824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3402" y="1641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55653" y="1558677"/>
            <a:ext cx="101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76451" y="19396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03402" y="2098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55653" y="2015877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训练模式与模板库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76451" y="23968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3402" y="25556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55653" y="2473077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76451" y="28540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3402" y="30128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5653" y="29302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评估模式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6451" y="33112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03402" y="34700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55653" y="33874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76451" y="37684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03402" y="3927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55653" y="3844677"/>
            <a:ext cx="1178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大模型语义分析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76451" y="42256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03402" y="4384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555653" y="43018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94350" y="961876"/>
            <a:ext cx="2590949" cy="444401"/>
          </a:xfrm>
          <a:prstGeom prst="roundRect">
            <a:avLst>
              <a:gd name="adj" fmla="val 17147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56275" y="10697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94546" y="1079707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86376" y="10602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94350" y="14824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21301" y="16412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73551" y="1558677"/>
            <a:ext cx="231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</a:t>
            </a:r>
            <a:r>
              <a:rPr lang="zh-CN" alt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：规范 </a:t>
            </a:r>
            <a:r>
              <a:rPr lang="en-US" altLang="zh-CN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zh-CN" alt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不规范动作评估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94350" y="19396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21301" y="20984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73552" y="2015877"/>
            <a:ext cx="2247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</a:t>
            </a:r>
            <a:r>
              <a:rPr lang="zh-CN" alt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：多帧分析与动作识别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94350" y="23968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21301" y="25556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73552" y="2473077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历史记录与进步追踪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94350" y="2854077"/>
            <a:ext cx="2590949" cy="381000"/>
          </a:xfrm>
          <a:prstGeom prst="roundRect">
            <a:avLst>
              <a:gd name="adj" fmla="val 1666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21301" y="30128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73552" y="2930277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786086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2046387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2614613"/>
            <a:ext cx="507950" cy="25301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8430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350" y="315738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D4FF">
                    <a:alpha val="8000"/>
                  </a:srgbClr>
                </a:solidFill>
              </a:rPr>
              <a:t>01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746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330101"/>
            <a:ext cx="984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901601"/>
            <a:ext cx="2573834" cy="3962549"/>
          </a:xfrm>
          <a:prstGeom prst="roundRect">
            <a:avLst>
              <a:gd name="adj" fmla="val 493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911126"/>
            <a:ext cx="2573834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61851" y="1174552"/>
            <a:ext cx="22108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1701552"/>
            <a:ext cx="22108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训练痛点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1851" y="2101602"/>
            <a:ext cx="2167533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无教练难发现偏差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错误强化成记忆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回放缺乏量化依据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纠正成本随时增加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4203948"/>
            <a:ext cx="2210883" cy="4063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spcBef>
                <a:spcPts val="3991"/>
              </a:spcBef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需客观反馈机制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84934" y="901601"/>
            <a:ext cx="2573982" cy="3962549"/>
          </a:xfrm>
          <a:prstGeom prst="roundRect">
            <a:avLst>
              <a:gd name="adj" fmla="val 493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4934" y="911126"/>
            <a:ext cx="257398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488085" y="1174552"/>
            <a:ext cx="2211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88085" y="1701552"/>
            <a:ext cx="2211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资源困境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88085" y="2101602"/>
            <a:ext cx="2167682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教练稀缺费用高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爱好者难获持续指导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缺客观量化评估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低成本工具极稀缺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88085" y="4203948"/>
            <a:ext cx="2211035" cy="4063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spcBef>
                <a:spcPts val="3991"/>
              </a:spcBef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需低成本辅助方案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11317" y="901601"/>
            <a:ext cx="2573982" cy="3962549"/>
          </a:xfrm>
          <a:prstGeom prst="roundRect">
            <a:avLst>
              <a:gd name="adj" fmla="val 493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11317" y="911126"/>
            <a:ext cx="257398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214467" y="1174552"/>
            <a:ext cx="2211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4467" y="1701552"/>
            <a:ext cx="2211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技术空白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4467" y="2101602"/>
            <a:ext cx="2167682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网球专项系统少见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现有研究停留验证层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单引擎需手动标注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几何与语义未融合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4467" y="4203948"/>
            <a:ext cx="2211035" cy="4063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spcBef>
                <a:spcPts val="3991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需实用落地系统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476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203150"/>
            <a:ext cx="12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673001"/>
            <a:ext cx="3829199" cy="1028998"/>
          </a:xfrm>
          <a:prstGeom prst="roundRect">
            <a:avLst>
              <a:gd name="adj" fmla="val 863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7492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635" y="825401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7402" y="749201"/>
            <a:ext cx="32064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自动检测 · 客观量化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402" y="1047601"/>
            <a:ext cx="320641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17关键点 + 7关节角度，输出0–100非线性评分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8701" y="1765399"/>
            <a:ext cx="3829199" cy="1040904"/>
          </a:xfrm>
          <a:prstGeom prst="roundRect">
            <a:avLst>
              <a:gd name="adj" fmla="val 854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18415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5635" y="1917799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402" y="1841599"/>
            <a:ext cx="31991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双模输入 · 灵活适配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402" y="2140000"/>
            <a:ext cx="319913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图片单帧评估；视频逐帧提取多帧均值聚合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7402" y="2450902"/>
            <a:ext cx="806351" cy="279202"/>
          </a:xfrm>
          <a:prstGeom prst="roundRect">
            <a:avLst>
              <a:gd name="adj" fmla="val 1819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5777" y="2493222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图片模式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9952" y="2450902"/>
            <a:ext cx="806351" cy="279202"/>
          </a:xfrm>
          <a:prstGeom prst="roundRect">
            <a:avLst>
              <a:gd name="adj" fmla="val 1819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98328" y="2493222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视频模式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8701" y="2869704"/>
            <a:ext cx="3829199" cy="1028998"/>
          </a:xfrm>
          <a:prstGeom prst="roundRect">
            <a:avLst>
              <a:gd name="adj" fmla="val 863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651" y="294590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5635" y="3022104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402" y="2945904"/>
            <a:ext cx="30215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智能建议 · 有的放矢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7402" y="3244304"/>
            <a:ext cx="302152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LLM针对问题关节生成自然语言改进建议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8701" y="3962102"/>
            <a:ext cx="3829199" cy="1028998"/>
          </a:xfrm>
          <a:prstGeom prst="roundRect">
            <a:avLst>
              <a:gd name="adj" fmla="val 863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651" y="40383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5635" y="4114502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7402" y="4038302"/>
            <a:ext cx="28624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历史追踪 · 可视进步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7402" y="4336703"/>
            <a:ext cx="2862429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存储每次评估，进步曲线追踪训练成效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5600" y="673001"/>
            <a:ext cx="12650" cy="43180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5952" y="673001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82902" y="7492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59102" y="841585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14652" y="749201"/>
            <a:ext cx="26939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对爱好者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14652" y="1047601"/>
            <a:ext cx="269392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随时上传，无需教练，客观量化反馈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5952" y="1768376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82902" y="18445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59102" y="193696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14652" y="1844576"/>
            <a:ext cx="2525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对教练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14652" y="2142976"/>
            <a:ext cx="252557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构建个性化模板库，减少重复讲解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5952" y="2863751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82902" y="29399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59102" y="3032335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14652" y="2939951"/>
            <a:ext cx="27973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研究价值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14652" y="3238351"/>
            <a:ext cx="279730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× LLM × 运动训练低成本落地方案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55952" y="3959126"/>
            <a:ext cx="3829348" cy="1031974"/>
          </a:xfrm>
          <a:prstGeom prst="roundRect">
            <a:avLst>
              <a:gd name="adj" fmla="val 861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82902" y="403532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59102" y="4127710"/>
            <a:ext cx="15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14652" y="4035326"/>
            <a:ext cx="27223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14652" y="4333726"/>
            <a:ext cx="27223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 + 加权RMSE + 几何语义融合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157436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1417737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1985963"/>
            <a:ext cx="507950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21441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350" y="252873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训练模式与模板库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0350" y="28430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350" y="315738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评估模式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0350" y="347171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350" y="378603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大模型语义分析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0B981">
                    <a:alpha val="8000"/>
                  </a:srgbClr>
                </a:solidFill>
              </a:rPr>
              <a:t>02</a:t>
            </a:r>
            <a:endParaRPr lang="en-US" sz="96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D5A83C9-A7C2-A7C4-892D-704A3EEB3DD1}"/>
              </a:ext>
            </a:extLst>
          </p:cNvPr>
          <p:cNvSpPr/>
          <p:nvPr/>
        </p:nvSpPr>
        <p:spPr>
          <a:xfrm>
            <a:off x="660350" y="41003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1476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25401"/>
            <a:ext cx="1274118" cy="342900"/>
          </a:xfrm>
          <a:prstGeom prst="roundRect">
            <a:avLst>
              <a:gd name="adj" fmla="val 74074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892481"/>
            <a:ext cx="9176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训练路径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284089"/>
            <a:ext cx="148337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2009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009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009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图片/视频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3853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3720" y="1269802"/>
            <a:ext cx="1483519" cy="1269950"/>
          </a:xfrm>
          <a:prstGeom prst="roundRect">
            <a:avLst>
              <a:gd name="adj" fmla="val 800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143720" y="1284089"/>
            <a:ext cx="1483519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206609" y="1501527"/>
            <a:ext cx="13577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06609" y="1911102"/>
            <a:ext cx="1357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06609" y="2177802"/>
            <a:ext cx="1357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百度/MediaPipe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520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0389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30389" y="1284089"/>
            <a:ext cx="148337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89328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9328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角度计算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328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7个关节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1172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16910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16910" y="1284089"/>
            <a:ext cx="1483370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57980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🎞️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980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帧合并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980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均值/最高分帧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8248" y="1814215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03430" y="1269802"/>
            <a:ext cx="1483370" cy="1269950"/>
          </a:xfrm>
          <a:prstGeom prst="roundRect">
            <a:avLst>
              <a:gd name="adj" fmla="val 800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203430" y="1284089"/>
            <a:ext cx="1483370" cy="0"/>
          </a:xfrm>
          <a:prstGeom prst="line">
            <a:avLst/>
          </a:prstGeom>
          <a:noFill/>
          <a:ln w="2857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7266320" y="150152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66320" y="1911102"/>
            <a:ext cx="1357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保存模板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6320" y="2177802"/>
            <a:ext cx="1357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加权均值合并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2844552"/>
            <a:ext cx="1274118" cy="342900"/>
          </a:xfrm>
          <a:prstGeom prst="roundRect">
            <a:avLst>
              <a:gd name="adj" fmla="val 74074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4426" y="2911632"/>
            <a:ext cx="9176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 评估路径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393728"/>
            <a:ext cx="1202234" cy="1269950"/>
          </a:xfrm>
          <a:prstGeom prst="roundRect">
            <a:avLst>
              <a:gd name="adj" fmla="val 845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57200" y="3408015"/>
            <a:ext cx="1202234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522902" y="3625453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2902" y="4035028"/>
            <a:ext cx="107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902" y="4301728"/>
            <a:ext cx="1070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图片/视频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57402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62584" y="3394149"/>
            <a:ext cx="1202382" cy="1269526"/>
          </a:xfrm>
          <a:prstGeom prst="roundRect">
            <a:avLst>
              <a:gd name="adj" fmla="val 845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862584" y="3408436"/>
            <a:ext cx="1202382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1928284" y="3625874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928284" y="4035449"/>
            <a:ext cx="107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928284" y="4302149"/>
            <a:ext cx="10709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百度/MediaPipe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062935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268117" y="3393728"/>
            <a:ext cx="1202234" cy="1269950"/>
          </a:xfrm>
          <a:prstGeom prst="roundRect">
            <a:avLst>
              <a:gd name="adj" fmla="val 845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268117" y="3408015"/>
            <a:ext cx="1202234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3333818" y="3625453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3333818" y="4035028"/>
            <a:ext cx="107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角度+匹配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33818" y="4301728"/>
            <a:ext cx="1070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468319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73501" y="3393728"/>
            <a:ext cx="1202382" cy="1269950"/>
          </a:xfrm>
          <a:prstGeom prst="roundRect">
            <a:avLst>
              <a:gd name="adj" fmla="val 845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673501" y="3408015"/>
            <a:ext cx="1202382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4739201" y="3625453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4739201" y="4035028"/>
            <a:ext cx="107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739201" y="4301728"/>
            <a:ext cx="10709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0–100分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873852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079034" y="3393728"/>
            <a:ext cx="1202234" cy="1269950"/>
          </a:xfrm>
          <a:prstGeom prst="roundRect">
            <a:avLst>
              <a:gd name="adj" fmla="val 845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79034" y="3408015"/>
            <a:ext cx="1202234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6144735" y="3625453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6144735" y="4035028"/>
            <a:ext cx="107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LLM分析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144735" y="4301728"/>
            <a:ext cx="1070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语义建议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79236" y="3938141"/>
            <a:ext cx="20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484418" y="3393728"/>
            <a:ext cx="1202382" cy="1269950"/>
          </a:xfrm>
          <a:prstGeom prst="roundRect">
            <a:avLst>
              <a:gd name="adj" fmla="val 845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7484418" y="3408015"/>
            <a:ext cx="1202382" cy="0"/>
          </a:xfrm>
          <a:prstGeom prst="line">
            <a:avLst/>
          </a:prstGeom>
          <a:noFill/>
          <a:ln w="28575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7550118" y="3625453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7550118" y="4035028"/>
            <a:ext cx="107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输出报告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550118" y="4301728"/>
            <a:ext cx="10709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评分+建议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1968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训练模式与模板库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8556" y="774650"/>
            <a:ext cx="968842" cy="1184962"/>
          </a:xfrm>
          <a:prstGeom prst="roundRect">
            <a:avLst>
              <a:gd name="adj" fmla="val 10093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2071" y="784175"/>
            <a:ext cx="96884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15877" y="890439"/>
            <a:ext cx="91696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图片训练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8498" y="1193787"/>
            <a:ext cx="74396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单张 → 关键点 → 模板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31925" y="774650"/>
            <a:ext cx="969005" cy="1184954"/>
          </a:xfrm>
          <a:prstGeom prst="roundRect">
            <a:avLst>
              <a:gd name="adj" fmla="val 100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25440" y="784175"/>
            <a:ext cx="969005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568184" y="896098"/>
            <a:ext cx="8818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视频训练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86517" y="1210912"/>
            <a:ext cx="69147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逐帧 → 均值 → 模板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1390" y="774650"/>
            <a:ext cx="969005" cy="1184953"/>
          </a:xfrm>
          <a:prstGeom prst="roundRect">
            <a:avLst>
              <a:gd name="adj" fmla="val 100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24905" y="784175"/>
            <a:ext cx="969005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683626" y="888802"/>
            <a:ext cx="96900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批量训练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76014" y="1218455"/>
            <a:ext cx="69147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 → 多阶段模板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043461"/>
            <a:ext cx="3136710" cy="1298674"/>
          </a:xfrm>
          <a:prstGeom prst="roundRect">
            <a:avLst>
              <a:gd name="adj" fmla="val 684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" y="2043461"/>
            <a:ext cx="0" cy="129867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03200" y="2132312"/>
            <a:ext cx="25982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方式一：</a:t>
            </a: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百度人体分析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200" y="2418062"/>
            <a:ext cx="259828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"baidu"</a:t>
            </a: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 aip.baidubce.com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5565" y="2974084"/>
            <a:ext cx="1964859" cy="279202"/>
          </a:xfrm>
          <a:prstGeom prst="roundRect">
            <a:avLst>
              <a:gd name="adj" fmla="val 1819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18248" y="3015395"/>
            <a:ext cx="18117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 API KEY · 输出 2D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18336"/>
            <a:ext cx="3136704" cy="1308199"/>
          </a:xfrm>
          <a:prstGeom prst="roundRect">
            <a:avLst>
              <a:gd name="adj" fmla="val 679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725" y="3418336"/>
            <a:ext cx="0" cy="1308199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603200" y="3507186"/>
            <a:ext cx="25982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方式二：</a:t>
            </a: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200" y="3802461"/>
            <a:ext cx="259828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"mediapipe"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pose_landmarker_heavy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32647" y="4358483"/>
            <a:ext cx="1458516" cy="279202"/>
          </a:xfrm>
          <a:prstGeom prst="roundRect">
            <a:avLst>
              <a:gd name="adj" fmla="val 1819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18372" y="4393309"/>
            <a:ext cx="13128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无需网络 · 输出 3D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2568" y="774651"/>
            <a:ext cx="4944232" cy="3951884"/>
          </a:xfrm>
          <a:prstGeom prst="roundRect">
            <a:avLst>
              <a:gd name="adj" fmla="val 2428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0" descr="/Users/I072157/科创/tennis_coach/data/docsource/第一页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813" y="992567"/>
            <a:ext cx="2279335" cy="3474720"/>
          </a:xfrm>
          <a:prstGeom prst="rect">
            <a:avLst/>
          </a:prstGeom>
          <a:effectLst>
            <a:outerShdw blurRad="50800" dist="50800" algn="ctr" rotWithShape="0">
              <a:srgbClr val="000000">
                <a:alpha val="43137"/>
              </a:srgbClr>
            </a:outerShdw>
            <a:softEdge rad="0"/>
          </a:effectLst>
        </p:spPr>
      </p:pic>
      <p:pic>
        <p:nvPicPr>
          <p:cNvPr id="30" name="Image 1" descr="/Users/I072157/科创/tennis_coach/data/docsource/第四页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308" y="992567"/>
            <a:ext cx="231302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246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双引擎关键点检测架构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99952"/>
            <a:ext cx="2486620" cy="3173238"/>
          </a:xfrm>
          <a:prstGeom prst="roundRect">
            <a:avLst>
              <a:gd name="adj" fmla="val 408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77652"/>
            <a:ext cx="2131219" cy="393502"/>
          </a:xfrm>
          <a:prstGeom prst="roundRect">
            <a:avLst>
              <a:gd name="adj" fmla="val 16137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050578"/>
            <a:ext cx="18954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百度人体分析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498104"/>
            <a:ext cx="2131219" cy="1422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云端推理，鲁棒性强</a:t>
            </a:r>
            <a:endParaRPr lang="en-US" sz="14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复杂背景表现更优</a:t>
            </a:r>
            <a:endParaRPr lang="en-US" sz="14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17 关键点 (x, y)</a:t>
            </a:r>
            <a:endParaRPr lang="en-US" sz="14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需网络连接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7310" y="3404528"/>
            <a:ext cx="935534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24256" y="3450406"/>
            <a:ext cx="701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 · 2D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70771" y="799952"/>
            <a:ext cx="3002607" cy="3173238"/>
          </a:xfrm>
          <a:prstGeom prst="roundRect">
            <a:avLst>
              <a:gd name="adj" fmla="val 3384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00329" y="799951"/>
            <a:ext cx="2486471" cy="3173239"/>
          </a:xfrm>
          <a:prstGeom prst="roundRect">
            <a:avLst>
              <a:gd name="adj" fmla="val 408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78029" y="977652"/>
            <a:ext cx="2131070" cy="403027"/>
          </a:xfrm>
          <a:prstGeom prst="roundRect">
            <a:avLst>
              <a:gd name="adj" fmla="val 15756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14505" y="1050578"/>
            <a:ext cx="18952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MediaPipe Pose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8029" y="1507629"/>
            <a:ext cx="2031758" cy="2255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完全离线运行</a:t>
            </a:r>
            <a:endParaRPr lang="en-US" sz="14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3D 坐标 (x,y,z)</a:t>
            </a:r>
            <a:endParaRPr lang="en-US" sz="14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33点映射统一17点格式</a:t>
            </a:r>
            <a:endParaRPr lang="en-US" sz="14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 neck/pelvis 虚拟点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19202" y="3365706"/>
            <a:ext cx="935534" cy="323850"/>
          </a:xfrm>
          <a:prstGeom prst="roundRect">
            <a:avLst>
              <a:gd name="adj" fmla="val 15686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36148" y="3413331"/>
            <a:ext cx="701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 · 3D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56199"/>
            <a:ext cx="8229600" cy="406301"/>
          </a:xfrm>
          <a:prstGeom prst="roundRect">
            <a:avLst>
              <a:gd name="adj" fmla="val 1875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" y="4356199"/>
            <a:ext cx="0" cy="406301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53951" y="4445050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两套方案输出</a:t>
            </a: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统一格式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，角度计算与评分模块无缝复用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F2C0B6-BFA5-29A2-B835-97D05A5D9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67" y="1048785"/>
            <a:ext cx="2727666" cy="20466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评估模式：完整流程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774650"/>
            <a:ext cx="4016425" cy="770632"/>
          </a:xfrm>
          <a:prstGeom prst="roundRect">
            <a:avLst>
              <a:gd name="adj" fmla="val 1153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66725" y="774650"/>
            <a:ext cx="0" cy="7706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1300" y="9016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8485" y="965002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601" y="901601"/>
            <a:ext cx="26939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上传图片或视频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7601" y="1187351"/>
            <a:ext cx="26939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选学员、角度、动作类型及检测方案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59582"/>
            <a:ext cx="4016425" cy="1100584"/>
          </a:xfrm>
          <a:prstGeom prst="roundRect">
            <a:avLst>
              <a:gd name="adj" fmla="val 807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659582"/>
            <a:ext cx="0" cy="110058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641300" y="178653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8485" y="1849934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7601" y="1786533"/>
            <a:ext cx="3012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自动识别动作阶段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7601" y="2072283"/>
            <a:ext cx="30121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加权RMSE匹配所有模板，找最相似阶段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90351" y="2392188"/>
            <a:ext cx="1136452" cy="279202"/>
          </a:xfrm>
          <a:prstGeom prst="roundRect">
            <a:avLst>
              <a:gd name="adj" fmla="val 18195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01377" y="2433499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无需手动标注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74466"/>
            <a:ext cx="4016425" cy="770632"/>
          </a:xfrm>
          <a:prstGeom prst="roundRect">
            <a:avLst>
              <a:gd name="adj" fmla="val 1153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" y="2874466"/>
            <a:ext cx="0" cy="7706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41300" y="300141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485" y="3064818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7601" y="3001417"/>
            <a:ext cx="26570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量化评分与问题列表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7601" y="3287167"/>
            <a:ext cx="265703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0–100分，问题关节按严重程度排序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59398"/>
            <a:ext cx="4016425" cy="770632"/>
          </a:xfrm>
          <a:prstGeom prst="roundRect">
            <a:avLst>
              <a:gd name="adj" fmla="val 1153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" y="3759398"/>
            <a:ext cx="0" cy="7706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41300" y="388634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8485" y="3949750"/>
            <a:ext cx="86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7601" y="3886349"/>
            <a:ext cx="29000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LLM语义建议（可选）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7601" y="4172099"/>
            <a:ext cx="290007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qwen-vl-max 分析握拍等细节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6852" y="774651"/>
            <a:ext cx="3185405" cy="3755380"/>
          </a:xfrm>
          <a:prstGeom prst="roundRect">
            <a:avLst>
              <a:gd name="adj" fmla="val 2518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0" descr="/Users/I072157/科创/tennis_coach/data/docsource/评估模式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895" y="901601"/>
            <a:ext cx="2671317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31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28600"/>
            <a:ext cx="36366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核心算法：角度计算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匹配 · 评分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199" y="773761"/>
            <a:ext cx="3956000" cy="1813918"/>
          </a:xfrm>
          <a:prstGeom prst="roundRect">
            <a:avLst>
              <a:gd name="adj" fmla="val 616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876151"/>
            <a:ext cx="3776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关节角度计算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4150" y="1170938"/>
            <a:ext cx="3702100" cy="701240"/>
          </a:xfrm>
          <a:prstGeom prst="roundRect">
            <a:avLst>
              <a:gd name="adj" fmla="val 12053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994" y="2159384"/>
            <a:ext cx="377614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以关节顶点B为原点，向量点积求夹角；支持2D/3D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0303"/>
            <a:ext cx="3956000" cy="596652"/>
          </a:xfrm>
          <a:prstGeom prst="roundRect">
            <a:avLst>
              <a:gd name="adj" fmla="val 1064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" y="2740303"/>
            <a:ext cx="0" cy="596652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77751" y="2803704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上肢组（4个）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7751" y="3044955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右/左肘角、右/左肩角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13155"/>
            <a:ext cx="3956000" cy="596652"/>
          </a:xfrm>
          <a:prstGeom prst="roundRect">
            <a:avLst>
              <a:gd name="adj" fmla="val 1064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" y="3413155"/>
            <a:ext cx="0" cy="59665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77751" y="3476556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下肢组（2个）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7751" y="3717807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右/左膝角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86007"/>
            <a:ext cx="3956000" cy="596652"/>
          </a:xfrm>
          <a:prstGeom prst="roundRect">
            <a:avLst>
              <a:gd name="adj" fmla="val 1064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" y="4086007"/>
            <a:ext cx="0" cy="5966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77751" y="4149408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躯干组（1个）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7751" y="4390658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躯干倾角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65600" y="749201"/>
            <a:ext cx="12650" cy="40132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0651" y="773761"/>
            <a:ext cx="3956149" cy="2027725"/>
          </a:xfrm>
          <a:prstGeom prst="roundRect">
            <a:avLst>
              <a:gd name="adj" fmla="val 551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7601" y="876151"/>
            <a:ext cx="37762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加权RMSE模板匹配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57601" y="1177423"/>
            <a:ext cx="3702248" cy="701240"/>
          </a:xfrm>
          <a:prstGeom prst="roundRect">
            <a:avLst>
              <a:gd name="adj" fmla="val 12053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7601" y="1997369"/>
            <a:ext cx="377629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遍历所有模板，取RMSE最小阶段，无需手动标注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7601" y="2329851"/>
            <a:ext cx="1043136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68627" y="2377476"/>
            <a:ext cx="83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肩角 w=2.5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76938" y="2329851"/>
            <a:ext cx="1043136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87963" y="2377476"/>
            <a:ext cx="83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肘角 w=2.0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96274" y="2329851"/>
            <a:ext cx="1043136" cy="323850"/>
          </a:xfrm>
          <a:prstGeom prst="roundRect">
            <a:avLst>
              <a:gd name="adj" fmla="val 156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207300" y="2377476"/>
            <a:ext cx="83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其余 w=1.0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30651" y="2967099"/>
            <a:ext cx="3956149" cy="1748135"/>
          </a:xfrm>
          <a:prstGeom prst="roundRect">
            <a:avLst>
              <a:gd name="adj" fmla="val 581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57601" y="3094049"/>
            <a:ext cx="37762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非线性评分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57601" y="3424150"/>
            <a:ext cx="3702248" cy="856952"/>
          </a:xfrm>
          <a:prstGeom prst="roundRect">
            <a:avLst>
              <a:gd name="adj" fmla="val 7410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20922" y="3522526"/>
            <a:ext cx="3575608" cy="33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 = |偏差| / 阈值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20922" y="3852626"/>
            <a:ext cx="3575608" cy="33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= 100 × (1 − Σw·min(ratio²,4) / max_penalty)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57601" y="4357302"/>
            <a:ext cx="377629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偏差越大扣分越多；单角度上限4倍防压垮总分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F67673-0704-2C69-3976-EE81028F2FA5}"/>
                  </a:ext>
                </a:extLst>
              </p:cNvPr>
              <p:cNvSpPr txBox="1"/>
              <p:nvPr/>
            </p:nvSpPr>
            <p:spPr>
              <a:xfrm>
                <a:off x="4773714" y="1200147"/>
                <a:ext cx="3903243" cy="960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N" sz="1300">
                              <a:solidFill>
                                <a:srgbClr val="00D4FF"/>
                              </a:solidFill>
                              <a:latin typeface="Cambria Math" panose="02040503050406030204" pitchFamily="18" charset="0"/>
                              <a:ea typeface="Times New Roman" pitchFamily="34" charset="-122"/>
                              <a:cs typeface="Times New Roman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1300">
                              <a:solidFill>
                                <a:srgbClr val="00D4FF"/>
                              </a:solidFill>
                              <a:latin typeface="Cambria Math" panose="02040503050406030204" pitchFamily="18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RMSE</m:t>
                          </m:r>
                          <m:r>
                            <a:rPr lang="en-CN" sz="1300">
                              <a:solidFill>
                                <a:srgbClr val="00D4FF"/>
                              </a:solidFill>
                              <a:latin typeface="Cambria Math" panose="02040503050406030204" pitchFamily="18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₁</m:t>
                          </m:r>
                        </m:fName>
                        <m:e>
                          <m:d>
                            <m:dPr>
                              <m:ctrlP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</m:ctrlPr>
                            </m:dPr>
                            <m:e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𝑆</m:t>
                              </m:r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, </m:t>
                              </m:r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𝑇</m:t>
                              </m:r>
                            </m:e>
                          </m:d>
                        </m:e>
                      </m:func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CN" sz="1300" i="1">
                              <a:solidFill>
                                <a:srgbClr val="00D4FF"/>
                              </a:solidFill>
                              <a:latin typeface="Cambria Math" panose="02040503050406030204" pitchFamily="18" charset="0"/>
                              <a:ea typeface="Times New Roman" pitchFamily="34" charset="-122"/>
                              <a:cs typeface="Times New Roman" pitchFamily="34" charset="-12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CN" sz="1300" i="1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</m:ctrlPr>
                                </m:naryPr>
                                <m:sub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𝑤</m:t>
                                  </m:r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ᵢ · </m:t>
                                  </m:r>
                                  <m:sSup>
                                    <m:sSupPr>
                                      <m:ctrlPr>
                                        <a:rPr lang="en-CN" sz="1300" i="1">
                                          <a:solidFill>
                                            <a:srgbClr val="00D4FF"/>
                                          </a:solidFill>
                                          <a:latin typeface="Cambria Math" panose="02040503050406030204" pitchFamily="18" charset="0"/>
                                          <a:ea typeface="Times New Roman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N" sz="1300">
                                              <a:solidFill>
                                                <a:srgbClr val="00D4FF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itchFamily="34" charset="-122"/>
                                              <a:cs typeface="Times New Roman" pitchFamily="34" charset="-12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N" sz="1300">
                                              <a:solidFill>
                                                <a:srgbClr val="00D4FF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itchFamily="34" charset="-122"/>
                                              <a:cs typeface="Times New Roman" pitchFamily="34" charset="-120"/>
                                            </a:rPr>
                                            <m:t>𝑆</m:t>
                                          </m:r>
                                          <m:r>
                                            <a:rPr lang="en-CN" sz="1300">
                                              <a:solidFill>
                                                <a:srgbClr val="00D4FF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itchFamily="34" charset="-122"/>
                                              <a:cs typeface="Times New Roman" pitchFamily="34" charset="-120"/>
                                            </a:rPr>
                                            <m:t>ᵢ − </m:t>
                                          </m:r>
                                          <m:r>
                                            <a:rPr lang="en-CN" sz="1300">
                                              <a:solidFill>
                                                <a:srgbClr val="00D4FF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itchFamily="34" charset="-122"/>
                                              <a:cs typeface="Times New Roman" pitchFamily="34" charset="-120"/>
                                            </a:rPr>
                                            <m:t>𝑇</m:t>
                                          </m:r>
                                          <m:r>
                                            <a:rPr lang="en-CN" sz="1300">
                                              <a:solidFill>
                                                <a:srgbClr val="00D4FF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itchFamily="34" charset="-122"/>
                                              <a:cs typeface="Times New Roman" pitchFamily="34" charset="-120"/>
                                            </a:rPr>
                                            <m:t>ᵢ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CN" sz="1300">
                                          <a:solidFill>
                                            <a:srgbClr val="00D4FF"/>
                                          </a:solidFill>
                                          <a:latin typeface="Cambria Math" panose="02040503050406030204" pitchFamily="18" charset="0"/>
                                          <a:ea typeface="Times New Roman" pitchFamily="34" charset="-122"/>
                                          <a:cs typeface="Times New Roman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</m:ctrlPr>
                                </m:naryPr>
                                <m:sub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𝑤</m:t>
                                  </m:r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ᵢ</m:t>
                                  </m:r>
                                </m:e>
                              </m:nary>
                            </m:den>
                          </m:f>
                        </m:e>
                      </m:rad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 </m:t>
                      </m:r>
                      <m:r>
                        <a:rPr lang="zh-CN" alt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（</m:t>
                      </m:r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𝑖</m:t>
                      </m:r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 ∈ </m:t>
                      </m:r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𝐼</m:t>
                      </m:r>
                      <m:r>
                        <a:rPr lang="zh-CN" alt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）</m:t>
                      </m:r>
                    </m:oMath>
                  </m:oMathPara>
                </a14:m>
                <a:endParaRPr lang="en-CN" sz="1300" dirty="0">
                  <a:solidFill>
                    <a:srgbClr val="00D4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endParaRPr>
              </a:p>
              <a:p>
                <a:endParaRPr lang="en-CN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F67673-0704-2C69-3976-EE81028F2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714" y="1200147"/>
                <a:ext cx="3903243" cy="960391"/>
              </a:xfrm>
              <a:prstGeom prst="rect">
                <a:avLst/>
              </a:prstGeom>
              <a:blipFill>
                <a:blip r:embed="rId3"/>
                <a:stretch>
                  <a:fillRect t="-22368" b="-144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BB18A0-65AC-FC9F-5525-6107BD71DD8D}"/>
                  </a:ext>
                </a:extLst>
              </p:cNvPr>
              <p:cNvSpPr txBox="1"/>
              <p:nvPr/>
            </p:nvSpPr>
            <p:spPr>
              <a:xfrm>
                <a:off x="31700" y="1268231"/>
                <a:ext cx="4572000" cy="462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𝜃</m:t>
                      </m:r>
                      <m:r>
                        <a:rPr lang="en-CN" sz="1300">
                          <a:solidFill>
                            <a:srgbClr val="00D4FF"/>
                          </a:solidFill>
                          <a:latin typeface="Cambria Math" panose="02040503050406030204" pitchFamily="18" charset="0"/>
                          <a:ea typeface="Times New Roman" pitchFamily="34" charset="-122"/>
                          <a:cs typeface="Times New Roman" pitchFamily="34" charset="-120"/>
                        </a:rPr>
                        <m:t> = </m:t>
                      </m:r>
                      <m:func>
                        <m:funcPr>
                          <m:ctrlPr>
                            <a:rPr lang="en-CN" sz="1300">
                              <a:solidFill>
                                <a:srgbClr val="00D4FF"/>
                              </a:solidFill>
                              <a:latin typeface="Cambria Math" panose="02040503050406030204" pitchFamily="18" charset="0"/>
                              <a:ea typeface="Times New Roman" pitchFamily="34" charset="-122"/>
                              <a:cs typeface="Times New Roman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1300">
                              <a:solidFill>
                                <a:srgbClr val="00D4FF"/>
                              </a:solidFill>
                              <a:latin typeface="Cambria Math" panose="02040503050406030204" pitchFamily="18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arccos</m:t>
                          </m:r>
                        </m:fName>
                        <m:e>
                          <m:f>
                            <m:fPr>
                              <m:ctrlP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</m:ctrlPr>
                            </m:fPr>
                            <m:num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𝑢</m:t>
                              </m:r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·</m:t>
                              </m:r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𝑣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CN" sz="1300">
                                  <a:solidFill>
                                    <a:srgbClr val="00D4FF"/>
                                  </a:solidFill>
                                  <a:latin typeface="Cambria Math" panose="02040503050406030204" pitchFamily="18" charset="0"/>
                                  <a:ea typeface="Times New Roman" pitchFamily="34" charset="-122"/>
                                  <a:cs typeface="Times New Roman" pitchFamily="34" charset="-120"/>
                                </a:rPr>
                                <m:t>·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CN" sz="1300">
                                      <a:solidFill>
                                        <a:srgbClr val="00D4FF"/>
                                      </a:solidFill>
                                      <a:latin typeface="Cambria Math" panose="02040503050406030204" pitchFamily="18" charset="0"/>
                                      <a:ea typeface="Times New Roman" pitchFamily="34" charset="-122"/>
                                      <a:cs typeface="Times New Roman" pitchFamily="34" charset="-120"/>
                                    </a:rPr>
                                    <m:t>𝑣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CN" sz="1300" dirty="0">
                  <a:solidFill>
                    <a:srgbClr val="00D4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BB18A0-65AC-FC9F-5525-6107BD71D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0" y="1268231"/>
                <a:ext cx="4572000" cy="462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00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202" y="35555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大模型视觉语义分析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901601"/>
            <a:ext cx="3721298" cy="1527588"/>
          </a:xfrm>
          <a:prstGeom prst="roundRect">
            <a:avLst>
              <a:gd name="adj" fmla="val 785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751" y="1066651"/>
            <a:ext cx="882402" cy="333673"/>
          </a:xfrm>
          <a:prstGeom prst="roundRect">
            <a:avLst>
              <a:gd name="adj" fmla="val 15224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4777" y="1101477"/>
            <a:ext cx="67355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07654" y="1101477"/>
            <a:ext cx="9836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05595" y="1066651"/>
            <a:ext cx="882402" cy="333673"/>
          </a:xfrm>
          <a:prstGeom prst="roundRect">
            <a:avLst>
              <a:gd name="adj" fmla="val 15224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6621" y="1101477"/>
            <a:ext cx="67355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语义理解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3751" y="1501825"/>
            <a:ext cx="3459022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几何角度量化关节偏差，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但无法描述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握拍、眼神、击球点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等细节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8701" y="2594240"/>
            <a:ext cx="3721298" cy="1122164"/>
          </a:xfrm>
          <a:prstGeom prst="roundRect">
            <a:avLst>
              <a:gd name="adj" fmla="val 905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751" y="2759290"/>
            <a:ext cx="3459022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</a:t>
            </a: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qwen-vl-max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输入：原图 + 角度问题列表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输出：自然语言改进建议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57700" y="901602"/>
            <a:ext cx="4127599" cy="3255352"/>
          </a:xfrm>
          <a:prstGeom prst="roundRect">
            <a:avLst>
              <a:gd name="adj" fmla="val 256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0850" y="1104751"/>
            <a:ext cx="3795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建议覆盖5个维度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0850" y="1460302"/>
            <a:ext cx="3721298" cy="1923455"/>
          </a:xfrm>
          <a:prstGeom prst="roundRect">
            <a:avLst>
              <a:gd name="adj" fmla="val 3962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326" y="1596777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握拍方式（东方/西方/大陆式）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7326" y="1926878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击球点位置与最佳区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7326" y="2256979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击球点偏差对发力的影响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7326" y="2587079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眼神与头部稳定性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7326" y="2917180"/>
            <a:ext cx="3517315" cy="3301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最重要改进建议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0850" y="3510707"/>
            <a:ext cx="3721298" cy="431602"/>
          </a:xfrm>
          <a:prstGeom prst="roundRect">
            <a:avLst>
              <a:gd name="adj" fmla="val 1471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70375" y="3510707"/>
            <a:ext cx="0" cy="43160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806851" y="3612207"/>
            <a:ext cx="351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可选模块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，无API Key时自动跳过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>
            <a:extLst>
              <a:ext uri="{FF2B5EF4-FFF2-40B4-BE49-F238E27FC236}">
                <a16:creationId xmlns:a16="http://schemas.microsoft.com/office/drawing/2014/main" id="{E1A3510B-B0FF-2C01-EA65-7B9711B23069}"/>
              </a:ext>
            </a:extLst>
          </p:cNvPr>
          <p:cNvSpPr/>
          <p:nvPr/>
        </p:nvSpPr>
        <p:spPr>
          <a:xfrm>
            <a:off x="457200" y="2476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109B69ED-5442-8D6F-D503-B1D8708B5412}"/>
              </a:ext>
            </a:extLst>
          </p:cNvPr>
          <p:cNvSpPr/>
          <p:nvPr/>
        </p:nvSpPr>
        <p:spPr>
          <a:xfrm>
            <a:off x="558701" y="203150"/>
            <a:ext cx="984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900" dirty="0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E4E05A8E-6210-BEFC-E89A-8D5D03DCC5AF}"/>
              </a:ext>
            </a:extLst>
          </p:cNvPr>
          <p:cNvSpPr/>
          <p:nvPr/>
        </p:nvSpPr>
        <p:spPr>
          <a:xfrm>
            <a:off x="444502" y="80322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输入层</a:t>
            </a:r>
            <a:endParaRPr lang="en-US" sz="1200" dirty="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44F090C2-1D9E-0366-EA7F-0B5F2F619207}"/>
              </a:ext>
            </a:extLst>
          </p:cNvPr>
          <p:cNvSpPr/>
          <p:nvPr/>
        </p:nvSpPr>
        <p:spPr>
          <a:xfrm>
            <a:off x="1168301" y="698450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EAE7526B-47BE-81A7-A893-55418CE24627}"/>
              </a:ext>
            </a:extLst>
          </p:cNvPr>
          <p:cNvSpPr/>
          <p:nvPr/>
        </p:nvSpPr>
        <p:spPr>
          <a:xfrm>
            <a:off x="1245288" y="784175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静态图像（JPG/PNG）</a:t>
            </a:r>
            <a:endParaRPr lang="en-US" sz="14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208F1257-D2AB-7432-9C58-FC93C15B4D69}"/>
              </a:ext>
            </a:extLst>
          </p:cNvPr>
          <p:cNvSpPr/>
          <p:nvPr/>
        </p:nvSpPr>
        <p:spPr>
          <a:xfrm>
            <a:off x="4844951" y="793700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</a:t>
            </a:r>
            <a:endParaRPr lang="en-US" sz="130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2B958318-F104-AFFC-F410-4B1A465F673A}"/>
              </a:ext>
            </a:extLst>
          </p:cNvPr>
          <p:cNvSpPr/>
          <p:nvPr/>
        </p:nvSpPr>
        <p:spPr>
          <a:xfrm>
            <a:off x="5060900" y="698450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2E511034-AE7C-1DAC-6661-4740118CEF91}"/>
              </a:ext>
            </a:extLst>
          </p:cNvPr>
          <p:cNvSpPr/>
          <p:nvPr/>
        </p:nvSpPr>
        <p:spPr>
          <a:xfrm>
            <a:off x="5137888" y="784175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视频文件（MP4等）</a:t>
            </a:r>
            <a:endParaRPr lang="en-US" sz="140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A5F08EE0-9314-C96D-591D-00BD8A21F30A}"/>
              </a:ext>
            </a:extLst>
          </p:cNvPr>
          <p:cNvSpPr/>
          <p:nvPr/>
        </p:nvSpPr>
        <p:spPr>
          <a:xfrm>
            <a:off x="913638" y="1168301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10D2DF41-C34E-EF47-1FF9-876DABCBF94B}"/>
              </a:ext>
            </a:extLst>
          </p:cNvPr>
          <p:cNvSpPr/>
          <p:nvPr/>
        </p:nvSpPr>
        <p:spPr>
          <a:xfrm>
            <a:off x="444502" y="1523851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检测层</a:t>
            </a:r>
            <a:endParaRPr lang="en-US" sz="12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9641B3CD-6943-9F70-992D-DB281238E55A}"/>
              </a:ext>
            </a:extLst>
          </p:cNvPr>
          <p:cNvSpPr/>
          <p:nvPr/>
        </p:nvSpPr>
        <p:spPr>
          <a:xfrm>
            <a:off x="1168301" y="1419076"/>
            <a:ext cx="3378250" cy="419100"/>
          </a:xfrm>
          <a:prstGeom prst="roundRect">
            <a:avLst>
              <a:gd name="adj" fmla="val 15152"/>
            </a:avLst>
          </a:prstGeom>
          <a:solidFill>
            <a:srgbClr val="63B3ED">
              <a:alpha val="7000"/>
            </a:srgbClr>
          </a:solidFill>
          <a:ln w="9525">
            <a:solidFill>
              <a:srgbClr val="63B3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9FB2D16C-5275-F81E-EF91-AFBED231F3C8}"/>
              </a:ext>
            </a:extLst>
          </p:cNvPr>
          <p:cNvSpPr/>
          <p:nvPr/>
        </p:nvSpPr>
        <p:spPr>
          <a:xfrm>
            <a:off x="1247765" y="1504801"/>
            <a:ext cx="3219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百度人体分析 API</a:t>
            </a:r>
            <a:endParaRPr lang="en-US" sz="1400" dirty="0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7F056DBF-1918-7977-3C1C-423AD3629531}"/>
              </a:ext>
            </a:extLst>
          </p:cNvPr>
          <p:cNvSpPr/>
          <p:nvPr/>
        </p:nvSpPr>
        <p:spPr>
          <a:xfrm>
            <a:off x="4597301" y="151432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自动切换</a:t>
            </a:r>
            <a:endParaRPr lang="en-US" sz="1300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A48FECA1-C1F0-802C-E554-9A6E0381E4CB}"/>
              </a:ext>
            </a:extLst>
          </p:cNvPr>
          <p:cNvSpPr/>
          <p:nvPr/>
        </p:nvSpPr>
        <p:spPr>
          <a:xfrm>
            <a:off x="5308402" y="1419076"/>
            <a:ext cx="3378398" cy="419100"/>
          </a:xfrm>
          <a:prstGeom prst="roundRect">
            <a:avLst>
              <a:gd name="adj" fmla="val 15152"/>
            </a:avLst>
          </a:prstGeom>
          <a:solidFill>
            <a:srgbClr val="63B3ED">
              <a:alpha val="7000"/>
            </a:srgbClr>
          </a:solidFill>
          <a:ln w="9525">
            <a:solidFill>
              <a:srgbClr val="63B3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6FB3725E-DF44-6487-D52F-2443AD0F7180}"/>
              </a:ext>
            </a:extLst>
          </p:cNvPr>
          <p:cNvSpPr/>
          <p:nvPr/>
        </p:nvSpPr>
        <p:spPr>
          <a:xfrm>
            <a:off x="5387864" y="1504801"/>
            <a:ext cx="32194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Pose（本地）</a:t>
            </a:r>
            <a:endParaRPr lang="en-US" sz="140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32B5B363-0B82-F1E9-54A4-007051D422CC}"/>
              </a:ext>
            </a:extLst>
          </p:cNvPr>
          <p:cNvSpPr/>
          <p:nvPr/>
        </p:nvSpPr>
        <p:spPr>
          <a:xfrm>
            <a:off x="913638" y="1888927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2C7136AB-8816-56AC-BE04-135B56677E91}"/>
              </a:ext>
            </a:extLst>
          </p:cNvPr>
          <p:cNvSpPr/>
          <p:nvPr/>
        </p:nvSpPr>
        <p:spPr>
          <a:xfrm>
            <a:off x="444502" y="2244477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计算层</a:t>
            </a:r>
            <a:endParaRPr lang="en-US" sz="120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E508F9C1-773A-CFDD-E366-F33A2B8F5785}"/>
              </a:ext>
            </a:extLst>
          </p:cNvPr>
          <p:cNvSpPr/>
          <p:nvPr/>
        </p:nvSpPr>
        <p:spPr>
          <a:xfrm>
            <a:off x="1168301" y="2139702"/>
            <a:ext cx="7518499" cy="419100"/>
          </a:xfrm>
          <a:prstGeom prst="roundRect">
            <a:avLst>
              <a:gd name="adj" fmla="val 15152"/>
            </a:avLst>
          </a:prstGeom>
          <a:solidFill>
            <a:srgbClr val="64D2C8">
              <a:alpha val="7000"/>
            </a:srgbClr>
          </a:solidFill>
          <a:ln w="9525">
            <a:solidFill>
              <a:srgbClr val="64D2C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3EB10406-E43A-55E9-4574-C1D82AC8885A}"/>
              </a:ext>
            </a:extLst>
          </p:cNvPr>
          <p:cNvSpPr/>
          <p:nvPr/>
        </p:nvSpPr>
        <p:spPr>
          <a:xfrm>
            <a:off x="1206362" y="2225427"/>
            <a:ext cx="74423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关节角度计算（calc_angle）</a:t>
            </a:r>
            <a:endParaRPr lang="en-US" sz="140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99C409EC-4A0B-7E65-FBE4-232C8BA8605E}"/>
              </a:ext>
            </a:extLst>
          </p:cNvPr>
          <p:cNvSpPr/>
          <p:nvPr/>
        </p:nvSpPr>
        <p:spPr>
          <a:xfrm>
            <a:off x="913638" y="2609552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FEE2A886-41B8-8121-B8A6-412050FFD517}"/>
              </a:ext>
            </a:extLst>
          </p:cNvPr>
          <p:cNvSpPr/>
          <p:nvPr/>
        </p:nvSpPr>
        <p:spPr>
          <a:xfrm>
            <a:off x="444502" y="2965103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评估层</a:t>
            </a:r>
            <a:endParaRPr lang="en-US" sz="1200" dirty="0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DEF188C7-8714-67BB-3653-92C1948FB7E5}"/>
              </a:ext>
            </a:extLst>
          </p:cNvPr>
          <p:cNvSpPr/>
          <p:nvPr/>
        </p:nvSpPr>
        <p:spPr>
          <a:xfrm>
            <a:off x="1168301" y="2860328"/>
            <a:ext cx="2328267" cy="419100"/>
          </a:xfrm>
          <a:prstGeom prst="roundRect">
            <a:avLst>
              <a:gd name="adj" fmla="val 15152"/>
            </a:avLst>
          </a:prstGeom>
          <a:solidFill>
            <a:srgbClr val="81D4FA">
              <a:alpha val="7000"/>
            </a:srgbClr>
          </a:solidFill>
          <a:ln w="9525">
            <a:solidFill>
              <a:srgbClr val="81D4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65C5E9F0-1BF5-4EBF-1A27-9695DE7EF709}"/>
              </a:ext>
            </a:extLst>
          </p:cNvPr>
          <p:cNvSpPr/>
          <p:nvPr/>
        </p:nvSpPr>
        <p:spPr>
          <a:xfrm>
            <a:off x="1258264" y="2946053"/>
            <a:ext cx="21483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加权RMSE模板匹配</a:t>
            </a:r>
            <a:endParaRPr lang="en-US" sz="1400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7B12AA1E-461C-F71C-4013-C8AEB4F60F3E}"/>
              </a:ext>
            </a:extLst>
          </p:cNvPr>
          <p:cNvSpPr/>
          <p:nvPr/>
        </p:nvSpPr>
        <p:spPr>
          <a:xfrm>
            <a:off x="3547318" y="29698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18C6AF72-06EA-ABA4-3879-7174251FBA13}"/>
              </a:ext>
            </a:extLst>
          </p:cNvPr>
          <p:cNvSpPr/>
          <p:nvPr/>
        </p:nvSpPr>
        <p:spPr>
          <a:xfrm>
            <a:off x="3763268" y="2860328"/>
            <a:ext cx="2328416" cy="419100"/>
          </a:xfrm>
          <a:prstGeom prst="roundRect">
            <a:avLst>
              <a:gd name="adj" fmla="val 15152"/>
            </a:avLst>
          </a:prstGeom>
          <a:solidFill>
            <a:srgbClr val="81D4FA">
              <a:alpha val="7000"/>
            </a:srgbClr>
          </a:solidFill>
          <a:ln w="9525">
            <a:solidFill>
              <a:srgbClr val="81D4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467D33E1-00D8-9561-6778-9260FABE136C}"/>
              </a:ext>
            </a:extLst>
          </p:cNvPr>
          <p:cNvSpPr/>
          <p:nvPr/>
        </p:nvSpPr>
        <p:spPr>
          <a:xfrm>
            <a:off x="3853230" y="2946053"/>
            <a:ext cx="21484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偏差分析 + 评分</a:t>
            </a:r>
            <a:endParaRPr lang="en-US" sz="1400" dirty="0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9414EF1-B82E-1628-84A9-B8765E8C494E}"/>
              </a:ext>
            </a:extLst>
          </p:cNvPr>
          <p:cNvSpPr/>
          <p:nvPr/>
        </p:nvSpPr>
        <p:spPr>
          <a:xfrm>
            <a:off x="6142434" y="296986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B7DFE6AB-19B9-93A8-065B-97594CE730F6}"/>
              </a:ext>
            </a:extLst>
          </p:cNvPr>
          <p:cNvSpPr/>
          <p:nvPr/>
        </p:nvSpPr>
        <p:spPr>
          <a:xfrm>
            <a:off x="6358384" y="2860328"/>
            <a:ext cx="2328416" cy="419100"/>
          </a:xfrm>
          <a:prstGeom prst="roundRect">
            <a:avLst>
              <a:gd name="adj" fmla="val 15152"/>
            </a:avLst>
          </a:prstGeom>
          <a:solidFill>
            <a:srgbClr val="81D4FA">
              <a:alpha val="7000"/>
            </a:srgbClr>
          </a:solidFill>
          <a:ln w="9525">
            <a:solidFill>
              <a:srgbClr val="81D4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28">
            <a:extLst>
              <a:ext uri="{FF2B5EF4-FFF2-40B4-BE49-F238E27FC236}">
                <a16:creationId xmlns:a16="http://schemas.microsoft.com/office/drawing/2014/main" id="{F0B9E04E-7C79-8E6B-6129-7EEE4E0EA538}"/>
              </a:ext>
            </a:extLst>
          </p:cNvPr>
          <p:cNvSpPr/>
          <p:nvPr/>
        </p:nvSpPr>
        <p:spPr>
          <a:xfrm>
            <a:off x="6448346" y="2946053"/>
            <a:ext cx="21484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LLM语义建议生成</a:t>
            </a:r>
            <a:endParaRPr lang="en-US" sz="1400" dirty="0"/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13326A04-719A-C3B5-415B-FCBDF77521B3}"/>
              </a:ext>
            </a:extLst>
          </p:cNvPr>
          <p:cNvSpPr/>
          <p:nvPr/>
        </p:nvSpPr>
        <p:spPr>
          <a:xfrm>
            <a:off x="913638" y="333017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659C6EBC-887C-01D8-339E-97868BD8EFB5}"/>
              </a:ext>
            </a:extLst>
          </p:cNvPr>
          <p:cNvSpPr/>
          <p:nvPr/>
        </p:nvSpPr>
        <p:spPr>
          <a:xfrm>
            <a:off x="444502" y="3685729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</a:t>
            </a:r>
            <a:endParaRPr lang="en-US" sz="1200" dirty="0"/>
          </a:p>
        </p:txBody>
      </p:sp>
      <p:sp>
        <p:nvSpPr>
          <p:cNvPr id="77" name="Text 31">
            <a:extLst>
              <a:ext uri="{FF2B5EF4-FFF2-40B4-BE49-F238E27FC236}">
                <a16:creationId xmlns:a16="http://schemas.microsoft.com/office/drawing/2014/main" id="{A9E35826-D54A-6465-9D7C-14DE61FBCD99}"/>
              </a:ext>
            </a:extLst>
          </p:cNvPr>
          <p:cNvSpPr/>
          <p:nvPr/>
        </p:nvSpPr>
        <p:spPr>
          <a:xfrm>
            <a:off x="1168301" y="3580954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64B4DC">
              <a:alpha val="7000"/>
            </a:srgbClr>
          </a:solidFill>
          <a:ln w="9525">
            <a:solidFill>
              <a:srgbClr val="64B4D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32">
            <a:extLst>
              <a:ext uri="{FF2B5EF4-FFF2-40B4-BE49-F238E27FC236}">
                <a16:creationId xmlns:a16="http://schemas.microsoft.com/office/drawing/2014/main" id="{9900649E-E809-7BED-D887-E6B1A24E219B}"/>
              </a:ext>
            </a:extLst>
          </p:cNvPr>
          <p:cNvSpPr/>
          <p:nvPr/>
        </p:nvSpPr>
        <p:spPr>
          <a:xfrm>
            <a:off x="1245288" y="3666679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标准动作模板库</a:t>
            </a:r>
            <a:endParaRPr lang="en-US" sz="1400" dirty="0"/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87B29CB6-9461-78EA-0246-FADF86F4DC41}"/>
              </a:ext>
            </a:extLst>
          </p:cNvPr>
          <p:cNvSpPr/>
          <p:nvPr/>
        </p:nvSpPr>
        <p:spPr>
          <a:xfrm>
            <a:off x="4844951" y="369049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80" name="Text 34">
            <a:extLst>
              <a:ext uri="{FF2B5EF4-FFF2-40B4-BE49-F238E27FC236}">
                <a16:creationId xmlns:a16="http://schemas.microsoft.com/office/drawing/2014/main" id="{E535574F-28AF-4E59-5FF0-4DDBFCC6CCF6}"/>
              </a:ext>
            </a:extLst>
          </p:cNvPr>
          <p:cNvSpPr/>
          <p:nvPr/>
        </p:nvSpPr>
        <p:spPr>
          <a:xfrm>
            <a:off x="5060900" y="3580954"/>
            <a:ext cx="3625900" cy="419100"/>
          </a:xfrm>
          <a:prstGeom prst="roundRect">
            <a:avLst>
              <a:gd name="adj" fmla="val 15152"/>
            </a:avLst>
          </a:prstGeom>
          <a:solidFill>
            <a:srgbClr val="64B4DC">
              <a:alpha val="7000"/>
            </a:srgbClr>
          </a:solidFill>
          <a:ln w="9525">
            <a:solidFill>
              <a:srgbClr val="64B4D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35">
            <a:extLst>
              <a:ext uri="{FF2B5EF4-FFF2-40B4-BE49-F238E27FC236}">
                <a16:creationId xmlns:a16="http://schemas.microsoft.com/office/drawing/2014/main" id="{428EB1FA-E0D1-8958-35AF-4B26DA7873E8}"/>
              </a:ext>
            </a:extLst>
          </p:cNvPr>
          <p:cNvSpPr/>
          <p:nvPr/>
        </p:nvSpPr>
        <p:spPr>
          <a:xfrm>
            <a:off x="5137888" y="3666679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历史评估记录</a:t>
            </a:r>
            <a:endParaRPr lang="en-US" sz="1400" dirty="0"/>
          </a:p>
        </p:txBody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DC2B8B88-9EB8-8AF2-95B1-C7641759D069}"/>
              </a:ext>
            </a:extLst>
          </p:cNvPr>
          <p:cNvSpPr/>
          <p:nvPr/>
        </p:nvSpPr>
        <p:spPr>
          <a:xfrm>
            <a:off x="913638" y="4050804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FAD78A0E-DA0C-D124-6ED4-40D283683526}"/>
              </a:ext>
            </a:extLst>
          </p:cNvPr>
          <p:cNvSpPr/>
          <p:nvPr/>
        </p:nvSpPr>
        <p:spPr>
          <a:xfrm>
            <a:off x="444502" y="4406354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输出层</a:t>
            </a:r>
            <a:endParaRPr lang="en-US" sz="1200" dirty="0"/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8FF24DD3-C409-6A31-22E6-5755401FFF8B}"/>
              </a:ext>
            </a:extLst>
          </p:cNvPr>
          <p:cNvSpPr/>
          <p:nvPr/>
        </p:nvSpPr>
        <p:spPr>
          <a:xfrm>
            <a:off x="1168301" y="4301579"/>
            <a:ext cx="2472333" cy="419100"/>
          </a:xfrm>
          <a:prstGeom prst="roundRect">
            <a:avLst>
              <a:gd name="adj" fmla="val 1515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5C7D9DB2-06A5-83A5-DF3C-4629D09D4C2C}"/>
              </a:ext>
            </a:extLst>
          </p:cNvPr>
          <p:cNvSpPr/>
          <p:nvPr/>
        </p:nvSpPr>
        <p:spPr>
          <a:xfrm>
            <a:off x="1256824" y="4387304"/>
            <a:ext cx="22952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量化评分（0–100）</a:t>
            </a:r>
            <a:endParaRPr lang="en-US" sz="1400" dirty="0"/>
          </a:p>
        </p:txBody>
      </p:sp>
      <p:sp>
        <p:nvSpPr>
          <p:cNvPr id="86" name="Text 40">
            <a:extLst>
              <a:ext uri="{FF2B5EF4-FFF2-40B4-BE49-F238E27FC236}">
                <a16:creationId xmlns:a16="http://schemas.microsoft.com/office/drawing/2014/main" id="{33B06C9E-ABAB-9D36-0E6D-8995B2078948}"/>
              </a:ext>
            </a:extLst>
          </p:cNvPr>
          <p:cNvSpPr/>
          <p:nvPr/>
        </p:nvSpPr>
        <p:spPr>
          <a:xfrm>
            <a:off x="3691384" y="4301579"/>
            <a:ext cx="2472333" cy="419100"/>
          </a:xfrm>
          <a:prstGeom prst="roundRect">
            <a:avLst>
              <a:gd name="adj" fmla="val 1515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944C4D45-127C-7748-2759-6B34519D1B36}"/>
              </a:ext>
            </a:extLst>
          </p:cNvPr>
          <p:cNvSpPr/>
          <p:nvPr/>
        </p:nvSpPr>
        <p:spPr>
          <a:xfrm>
            <a:off x="3779907" y="4387304"/>
            <a:ext cx="22952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问题关节列表</a:t>
            </a:r>
            <a:endParaRPr lang="en-US" sz="1400" dirty="0"/>
          </a:p>
        </p:txBody>
      </p:sp>
      <p:sp>
        <p:nvSpPr>
          <p:cNvPr id="88" name="Text 42">
            <a:extLst>
              <a:ext uri="{FF2B5EF4-FFF2-40B4-BE49-F238E27FC236}">
                <a16:creationId xmlns:a16="http://schemas.microsoft.com/office/drawing/2014/main" id="{C6D2BD97-FCE8-ECA9-AE04-8D26FAFFC32F}"/>
              </a:ext>
            </a:extLst>
          </p:cNvPr>
          <p:cNvSpPr/>
          <p:nvPr/>
        </p:nvSpPr>
        <p:spPr>
          <a:xfrm>
            <a:off x="6214467" y="4301579"/>
            <a:ext cx="2472333" cy="419100"/>
          </a:xfrm>
          <a:prstGeom prst="roundRect">
            <a:avLst>
              <a:gd name="adj" fmla="val 15152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971E1E24-12FC-D6F5-6247-1775672EB6A9}"/>
              </a:ext>
            </a:extLst>
          </p:cNvPr>
          <p:cNvSpPr/>
          <p:nvPr/>
        </p:nvSpPr>
        <p:spPr>
          <a:xfrm>
            <a:off x="6302990" y="4387304"/>
            <a:ext cx="22952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自然语言改进建议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628924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1889224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2457450"/>
            <a:ext cx="507950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685901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r>
              <a:rPr lang="zh-CN" alt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图片输入</a:t>
            </a:r>
            <a:r>
              <a:rPr lang="zh-CN" alt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：规范 </a:t>
            </a:r>
            <a:r>
              <a:rPr lang="en-US" altLang="zh-CN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zh-CN" alt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不规范动作评估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350" y="3000226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r>
              <a:rPr lang="zh-CN" alt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视频输入</a:t>
            </a:r>
            <a:r>
              <a:rPr lang="zh-CN" alt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：多帧分析与动作识别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0350" y="3314551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r>
              <a:rPr lang="zh-CN" alt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历史记录与进步追踪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9E0B">
                    <a:alpha val="8000"/>
                  </a:srgbClr>
                </a:solidFill>
              </a:rPr>
              <a:t>03</a:t>
            </a:r>
            <a:endParaRPr lang="en-US" sz="96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51C26DE-1BCE-2AFB-893F-2EAE34464725}"/>
              </a:ext>
            </a:extLst>
          </p:cNvPr>
          <p:cNvSpPr/>
          <p:nvPr/>
        </p:nvSpPr>
        <p:spPr>
          <a:xfrm>
            <a:off x="660350" y="3600450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8394A8AF-0097-0A93-A968-E0837EE2CAA2}"/>
              </a:ext>
            </a:extLst>
          </p:cNvPr>
          <p:cNvSpPr/>
          <p:nvPr/>
        </p:nvSpPr>
        <p:spPr>
          <a:xfrm>
            <a:off x="355550" y="265063"/>
            <a:ext cx="50750" cy="2793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AB9B0F47-7773-EFA2-5A2F-73B01A27F40A}"/>
              </a:ext>
            </a:extLst>
          </p:cNvPr>
          <p:cNvSpPr/>
          <p:nvPr/>
        </p:nvSpPr>
        <p:spPr>
          <a:xfrm>
            <a:off x="457051" y="251085"/>
            <a:ext cx="43209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图片输入</a:t>
            </a:r>
            <a:r>
              <a:rPr lang="zh-CN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：规范 </a:t>
            </a:r>
            <a:r>
              <a:rPr lang="en-US" altLang="zh-CN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zh-CN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不规范动作评估</a:t>
            </a:r>
            <a:endParaRPr lang="en-US" sz="20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8360917A-8928-3B5D-C2DD-24A4775B01F5}"/>
              </a:ext>
            </a:extLst>
          </p:cNvPr>
          <p:cNvSpPr/>
          <p:nvPr/>
        </p:nvSpPr>
        <p:spPr>
          <a:xfrm>
            <a:off x="355550" y="733425"/>
            <a:ext cx="2276831" cy="504825"/>
          </a:xfrm>
          <a:prstGeom prst="roundRect">
            <a:avLst>
              <a:gd name="adj" fmla="val 15094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8DD7AFBC-E7F9-87CB-6E05-C5D0F27D9FA0}"/>
              </a:ext>
            </a:extLst>
          </p:cNvPr>
          <p:cNvSpPr/>
          <p:nvPr/>
        </p:nvSpPr>
        <p:spPr>
          <a:xfrm>
            <a:off x="527000" y="881063"/>
            <a:ext cx="12262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实验一 · 规范示范</a:t>
            </a:r>
            <a:endParaRPr lang="en-US" sz="12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673DC21C-9B2E-CC35-250A-CA5959A2786F}"/>
              </a:ext>
            </a:extLst>
          </p:cNvPr>
          <p:cNvSpPr/>
          <p:nvPr/>
        </p:nvSpPr>
        <p:spPr>
          <a:xfrm>
            <a:off x="1915633" y="838124"/>
            <a:ext cx="8704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100分</a:t>
            </a:r>
            <a:endParaRPr lang="en-US" sz="18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7AD5CD8-8270-C2C5-9CE9-751B7D87683C}"/>
              </a:ext>
            </a:extLst>
          </p:cNvPr>
          <p:cNvSpPr/>
          <p:nvPr/>
        </p:nvSpPr>
        <p:spPr>
          <a:xfrm>
            <a:off x="355550" y="4658023"/>
            <a:ext cx="4057650" cy="307777"/>
          </a:xfrm>
          <a:prstGeom prst="roundRect">
            <a:avLst>
              <a:gd name="adj" fmla="val 20632"/>
            </a:avLst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EE54D674-E8DD-2950-3549-19B7DB6587F6}"/>
              </a:ext>
            </a:extLst>
          </p:cNvPr>
          <p:cNvSpPr/>
          <p:nvPr/>
        </p:nvSpPr>
        <p:spPr>
          <a:xfrm>
            <a:off x="374600" y="4658023"/>
            <a:ext cx="0" cy="30777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1287715-DCD6-EE3A-FB5C-E22E4299B5D8}"/>
              </a:ext>
            </a:extLst>
          </p:cNvPr>
          <p:cNvSpPr/>
          <p:nvPr/>
        </p:nvSpPr>
        <p:spPr>
          <a:xfrm>
            <a:off x="546050" y="4721423"/>
            <a:ext cx="3789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所有关节角度达标，动作规范 · LLM 正向评价</a:t>
            </a:r>
            <a:endParaRPr lang="en-US" sz="10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07F63C12-433E-EAB2-F54D-40EF4C3323E1}"/>
              </a:ext>
            </a:extLst>
          </p:cNvPr>
          <p:cNvSpPr/>
          <p:nvPr/>
        </p:nvSpPr>
        <p:spPr>
          <a:xfrm>
            <a:off x="4565600" y="733425"/>
            <a:ext cx="12650" cy="4232374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91AFD4D5-679B-ABD1-97FD-668BB28AE3E3}"/>
              </a:ext>
            </a:extLst>
          </p:cNvPr>
          <p:cNvSpPr/>
          <p:nvPr/>
        </p:nvSpPr>
        <p:spPr>
          <a:xfrm>
            <a:off x="478685" y="3253658"/>
            <a:ext cx="8577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输入图片</a:t>
            </a:r>
            <a:endParaRPr lang="en-US" sz="1200" b="1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22563D11-A70D-E61D-0B69-D2FBE87EA5DD}"/>
              </a:ext>
            </a:extLst>
          </p:cNvPr>
          <p:cNvSpPr/>
          <p:nvPr/>
        </p:nvSpPr>
        <p:spPr>
          <a:xfrm>
            <a:off x="1997646" y="1695907"/>
            <a:ext cx="9941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关键点检测</a:t>
            </a: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0A557CB8-B672-6CD7-F714-52FFF10945E1}"/>
              </a:ext>
            </a:extLst>
          </p:cNvPr>
          <p:cNvSpPr/>
          <p:nvPr/>
        </p:nvSpPr>
        <p:spPr>
          <a:xfrm>
            <a:off x="1915633" y="4280237"/>
            <a:ext cx="22539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评分 &amp; LLM分析</a:t>
            </a:r>
            <a:endParaRPr lang="en-US" sz="1200" b="1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870F79F3-79CA-0F06-10F8-4FD262F5D06B}"/>
              </a:ext>
            </a:extLst>
          </p:cNvPr>
          <p:cNvSpPr/>
          <p:nvPr/>
        </p:nvSpPr>
        <p:spPr>
          <a:xfrm>
            <a:off x="4841424" y="3296107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输入图片</a:t>
            </a: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1CD33CDE-2797-634A-62E3-9CE51D8F0013}"/>
              </a:ext>
            </a:extLst>
          </p:cNvPr>
          <p:cNvSpPr/>
          <p:nvPr/>
        </p:nvSpPr>
        <p:spPr>
          <a:xfrm>
            <a:off x="6207103" y="1823707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关键点检测</a:t>
            </a: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C87750EF-6C75-7941-8E10-F03283ADF646}"/>
              </a:ext>
            </a:extLst>
          </p:cNvPr>
          <p:cNvSpPr>
            <a:spLocks/>
          </p:cNvSpPr>
          <p:nvPr/>
        </p:nvSpPr>
        <p:spPr>
          <a:xfrm>
            <a:off x="6184861" y="436274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评分 &amp; </a:t>
            </a:r>
            <a:r>
              <a:rPr lang="en-US" sz="1200" b="1" dirty="0" err="1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LLM分析</a:t>
            </a:r>
            <a:endParaRPr lang="en-US" sz="1200" b="1" dirty="0">
              <a:solidFill>
                <a:srgbClr val="F97316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2" name="Image 0" descr="/Users/I072157/科创/tennis_coach/data/docsource/正确姿势.png">
            <a:extLst>
              <a:ext uri="{FF2B5EF4-FFF2-40B4-BE49-F238E27FC236}">
                <a16:creationId xmlns:a16="http://schemas.microsoft.com/office/drawing/2014/main" id="{36FBDCBF-C169-5A37-4B07-66D2B4B69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40" y="1709459"/>
            <a:ext cx="857707" cy="1463040"/>
          </a:xfrm>
          <a:prstGeom prst="rect">
            <a:avLst/>
          </a:prstGeom>
        </p:spPr>
      </p:pic>
      <p:pic>
        <p:nvPicPr>
          <p:cNvPr id="3" name="Image 1" descr="/Users/I072157/科创/tennis_coach/data/docsource/正确姿势关键点.png">
            <a:extLst>
              <a:ext uri="{FF2B5EF4-FFF2-40B4-BE49-F238E27FC236}">
                <a16:creationId xmlns:a16="http://schemas.microsoft.com/office/drawing/2014/main" id="{4F401E60-B861-D08A-842F-678A87A03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826" y="785253"/>
            <a:ext cx="1093641" cy="1946412"/>
          </a:xfrm>
          <a:prstGeom prst="rect">
            <a:avLst/>
          </a:prstGeom>
        </p:spPr>
      </p:pic>
      <p:pic>
        <p:nvPicPr>
          <p:cNvPr id="4" name="Image 2" descr="/Users/I072157/科创/tennis_coach/data/docsource/正确姿势大语言.jpg">
            <a:extLst>
              <a:ext uri="{FF2B5EF4-FFF2-40B4-BE49-F238E27FC236}">
                <a16:creationId xmlns:a16="http://schemas.microsoft.com/office/drawing/2014/main" id="{C19CE68F-CE41-142D-5446-7C578738E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471" y="2886442"/>
            <a:ext cx="2253996" cy="1356970"/>
          </a:xfrm>
          <a:prstGeom prst="rect">
            <a:avLst/>
          </a:prstGeom>
        </p:spPr>
      </p:pic>
      <p:pic>
        <p:nvPicPr>
          <p:cNvPr id="5" name="Image 3" descr="/Users/I072157/科创/tennis_coach/data/docsource/错误姿势.jpg">
            <a:extLst>
              <a:ext uri="{FF2B5EF4-FFF2-40B4-BE49-F238E27FC236}">
                <a16:creationId xmlns:a16="http://schemas.microsoft.com/office/drawing/2014/main" id="{E1CEFD78-0079-025C-F026-81211EA765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424" y="1786013"/>
            <a:ext cx="1188720" cy="1463040"/>
          </a:xfrm>
          <a:prstGeom prst="rect">
            <a:avLst/>
          </a:prstGeom>
        </p:spPr>
      </p:pic>
      <p:pic>
        <p:nvPicPr>
          <p:cNvPr id="6" name="Image 4" descr="/Users/I072157/科创/tennis_coach/data/docsource/错误姿势关键点.jpg">
            <a:extLst>
              <a:ext uri="{FF2B5EF4-FFF2-40B4-BE49-F238E27FC236}">
                <a16:creationId xmlns:a16="http://schemas.microsoft.com/office/drawing/2014/main" id="{7CE1C1AB-71B4-E124-1E49-054DFAB695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0246" y="1175999"/>
            <a:ext cx="1188720" cy="1463040"/>
          </a:xfrm>
          <a:prstGeom prst="rect">
            <a:avLst/>
          </a:prstGeom>
        </p:spPr>
      </p:pic>
      <p:pic>
        <p:nvPicPr>
          <p:cNvPr id="7" name="Image 5" descr="/Users/I072157/科创/tennis_coach/data/docsource/错误姿势大语言.jpg">
            <a:extLst>
              <a:ext uri="{FF2B5EF4-FFF2-40B4-BE49-F238E27FC236}">
                <a16:creationId xmlns:a16="http://schemas.microsoft.com/office/drawing/2014/main" id="{C3174EB7-02AA-27D9-9297-D3565DADB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3383" y="2687983"/>
            <a:ext cx="2076801" cy="1610262"/>
          </a:xfrm>
          <a:prstGeom prst="rect">
            <a:avLst/>
          </a:prstGeom>
        </p:spPr>
      </p:pic>
      <p:sp>
        <p:nvSpPr>
          <p:cNvPr id="12" name="Text 13">
            <a:extLst>
              <a:ext uri="{FF2B5EF4-FFF2-40B4-BE49-F238E27FC236}">
                <a16:creationId xmlns:a16="http://schemas.microsoft.com/office/drawing/2014/main" id="{E1862B65-3F64-DD47-CAE1-FF9361419E80}"/>
              </a:ext>
            </a:extLst>
          </p:cNvPr>
          <p:cNvSpPr/>
          <p:nvPr/>
        </p:nvSpPr>
        <p:spPr>
          <a:xfrm>
            <a:off x="4902101" y="881063"/>
            <a:ext cx="13817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实验二 · 不规范示范</a:t>
            </a:r>
            <a:endParaRPr lang="en-US" sz="12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0B0B9B0D-B206-D1F9-2693-C4BEA73CF875}"/>
              </a:ext>
            </a:extLst>
          </p:cNvPr>
          <p:cNvSpPr/>
          <p:nvPr/>
        </p:nvSpPr>
        <p:spPr>
          <a:xfrm>
            <a:off x="6436228" y="838124"/>
            <a:ext cx="8241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68分</a:t>
            </a:r>
            <a:endParaRPr lang="en-US" sz="1800" dirty="0"/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0FC43025-0447-94BB-A9E0-446F2AF7B0AB}"/>
              </a:ext>
            </a:extLst>
          </p:cNvPr>
          <p:cNvSpPr/>
          <p:nvPr/>
        </p:nvSpPr>
        <p:spPr>
          <a:xfrm>
            <a:off x="4749701" y="4658023"/>
            <a:ext cx="0" cy="30777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6D0DBE2E-BB39-F029-0FA8-D94639FA3BE1}"/>
              </a:ext>
            </a:extLst>
          </p:cNvPr>
          <p:cNvSpPr/>
          <p:nvPr/>
        </p:nvSpPr>
        <p:spPr>
          <a:xfrm>
            <a:off x="4921151" y="4721423"/>
            <a:ext cx="37891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右肘角 36.9°（标准 122.5°），偏差 −85.6° · 针对性建议</a:t>
            </a:r>
            <a:endParaRPr lang="en-US" sz="10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B76E3B2-ED0C-DAA1-5472-FD5DA5112035}"/>
              </a:ext>
            </a:extLst>
          </p:cNvPr>
          <p:cNvSpPr/>
          <p:nvPr/>
        </p:nvSpPr>
        <p:spPr>
          <a:xfrm>
            <a:off x="4730652" y="733425"/>
            <a:ext cx="2357570" cy="472827"/>
          </a:xfrm>
          <a:prstGeom prst="roundRect">
            <a:avLst>
              <a:gd name="adj" fmla="val 1765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6B16A96A-0BEE-0882-82E6-F668E00D6252}"/>
              </a:ext>
            </a:extLst>
          </p:cNvPr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440D2A8B-8B10-C2ED-8E45-2C1C87410F0B}"/>
              </a:ext>
            </a:extLst>
          </p:cNvPr>
          <p:cNvSpPr/>
          <p:nvPr/>
        </p:nvSpPr>
        <p:spPr>
          <a:xfrm>
            <a:off x="558700" y="298667"/>
            <a:ext cx="36204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视频输入</a:t>
            </a:r>
            <a:r>
              <a:rPr lang="zh-CN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：多帧分析与动作识别</a:t>
            </a:r>
            <a:endParaRPr lang="en-US" sz="1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7B601763-0DD8-1147-7A98-E3FCE47F54D2}"/>
              </a:ext>
            </a:extLst>
          </p:cNvPr>
          <p:cNvSpPr/>
          <p:nvPr/>
        </p:nvSpPr>
        <p:spPr>
          <a:xfrm>
            <a:off x="457200" y="832601"/>
            <a:ext cx="2481515" cy="431602"/>
          </a:xfrm>
          <a:prstGeom prst="roundRect">
            <a:avLst>
              <a:gd name="adj" fmla="val 17655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B3C9E231-899A-83FE-5168-6B23A4D5FE88}"/>
              </a:ext>
            </a:extLst>
          </p:cNvPr>
          <p:cNvSpPr/>
          <p:nvPr/>
        </p:nvSpPr>
        <p:spPr>
          <a:xfrm>
            <a:off x="593675" y="948390"/>
            <a:ext cx="1408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实验三 · 规范动作视频</a:t>
            </a:r>
            <a:endParaRPr lang="en-US" sz="11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7B81116-907A-096C-5B7D-4350DEE7435F}"/>
              </a:ext>
            </a:extLst>
          </p:cNvPr>
          <p:cNvSpPr/>
          <p:nvPr/>
        </p:nvSpPr>
        <p:spPr>
          <a:xfrm>
            <a:off x="2224054" y="921746"/>
            <a:ext cx="6107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82.2分</a:t>
            </a:r>
            <a:endParaRPr lang="en-US" sz="16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5EB9B8F4-5CC6-E4FE-310F-52512249B0D8}"/>
              </a:ext>
            </a:extLst>
          </p:cNvPr>
          <p:cNvSpPr/>
          <p:nvPr/>
        </p:nvSpPr>
        <p:spPr>
          <a:xfrm>
            <a:off x="4565600" y="774650"/>
            <a:ext cx="12650" cy="41656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22A2066-C491-192A-B9EC-24D6C18EFD77}"/>
              </a:ext>
            </a:extLst>
          </p:cNvPr>
          <p:cNvSpPr/>
          <p:nvPr/>
        </p:nvSpPr>
        <p:spPr>
          <a:xfrm>
            <a:off x="469097" y="3833382"/>
            <a:ext cx="12839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视频截帧</a:t>
            </a:r>
            <a:endParaRPr lang="en-US" sz="1200" b="1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37B194D1-9ACB-9B21-B95B-7A7E6D1F75FF}"/>
              </a:ext>
            </a:extLst>
          </p:cNvPr>
          <p:cNvSpPr/>
          <p:nvPr/>
        </p:nvSpPr>
        <p:spPr>
          <a:xfrm>
            <a:off x="2187856" y="383338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视频评分结果</a:t>
            </a:r>
            <a:endParaRPr lang="en-US" sz="1200" b="1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CF0AA1FE-9946-D3EF-EEBB-2701EA225324}"/>
              </a:ext>
            </a:extLst>
          </p:cNvPr>
          <p:cNvSpPr/>
          <p:nvPr/>
        </p:nvSpPr>
        <p:spPr>
          <a:xfrm>
            <a:off x="6578978" y="383338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视频评分结果</a:t>
            </a:r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1E133371-1EF3-F8A6-CA62-2A32FFF12243}"/>
              </a:ext>
            </a:extLst>
          </p:cNvPr>
          <p:cNvSpPr/>
          <p:nvPr/>
        </p:nvSpPr>
        <p:spPr>
          <a:xfrm>
            <a:off x="4867126" y="3820182"/>
            <a:ext cx="128765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视频截帧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45C7E7-40A7-243D-44C8-F3260FADBEEF}"/>
              </a:ext>
            </a:extLst>
          </p:cNvPr>
          <p:cNvGrpSpPr/>
          <p:nvPr/>
        </p:nvGrpSpPr>
        <p:grpSpPr>
          <a:xfrm>
            <a:off x="355550" y="4537062"/>
            <a:ext cx="4057650" cy="307777"/>
            <a:chOff x="355550" y="4234458"/>
            <a:chExt cx="4057650" cy="307777"/>
          </a:xfrm>
        </p:grpSpPr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FC179370-429C-BFB7-8427-9804A1E8DCE2}"/>
                </a:ext>
              </a:extLst>
            </p:cNvPr>
            <p:cNvSpPr/>
            <p:nvPr/>
          </p:nvSpPr>
          <p:spPr>
            <a:xfrm>
              <a:off x="355550" y="4234458"/>
              <a:ext cx="4057650" cy="307777"/>
            </a:xfrm>
            <a:prstGeom prst="roundRect">
              <a:avLst>
                <a:gd name="adj" fmla="val 20632"/>
              </a:avLst>
            </a:prstGeom>
            <a:solidFill>
              <a:srgbClr val="10B981">
                <a:alpha val="8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9" name="Shape 9">
              <a:extLst>
                <a:ext uri="{FF2B5EF4-FFF2-40B4-BE49-F238E27FC236}">
                  <a16:creationId xmlns:a16="http://schemas.microsoft.com/office/drawing/2014/main" id="{471C30C2-8373-5E30-0C72-3469842F5E79}"/>
                </a:ext>
              </a:extLst>
            </p:cNvPr>
            <p:cNvSpPr/>
            <p:nvPr/>
          </p:nvSpPr>
          <p:spPr>
            <a:xfrm>
              <a:off x="374600" y="4234458"/>
              <a:ext cx="0" cy="307777"/>
            </a:xfrm>
            <a:prstGeom prst="line">
              <a:avLst/>
            </a:prstGeom>
            <a:noFill/>
            <a:ln w="381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D0049102-92FF-1876-A991-CE496487BF37}"/>
                </a:ext>
              </a:extLst>
            </p:cNvPr>
            <p:cNvSpPr/>
            <p:nvPr/>
          </p:nvSpPr>
          <p:spPr>
            <a:xfrm>
              <a:off x="546050" y="4297858"/>
              <a:ext cx="3789045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6EE7B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 </a:t>
              </a:r>
              <a:r>
                <a:rPr lang="en-US" sz="1000" dirty="0">
                  <a:solidFill>
                    <a:srgbClr val="6EE7B7"/>
                  </a:solidFill>
                  <a:latin typeface="Arial" pitchFamily="34" charset="0"/>
                  <a:cs typeface="Arial" pitchFamily="34" charset="-120"/>
                </a:rPr>
                <a:t>9帧稳定 · 最佳帧97分 · 识别4个动作阶段</a:t>
              </a:r>
              <a:endParaRPr lang="en-US" sz="10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78F428-2B50-33A9-8FC5-F9B27A6609C3}"/>
              </a:ext>
            </a:extLst>
          </p:cNvPr>
          <p:cNvGrpSpPr/>
          <p:nvPr/>
        </p:nvGrpSpPr>
        <p:grpSpPr>
          <a:xfrm>
            <a:off x="4711450" y="4530723"/>
            <a:ext cx="4057799" cy="307777"/>
            <a:chOff x="4711450" y="4530723"/>
            <a:chExt cx="4057799" cy="307777"/>
          </a:xfrm>
        </p:grpSpPr>
        <p:sp>
          <p:nvSpPr>
            <p:cNvPr id="42" name="Text 18">
              <a:extLst>
                <a:ext uri="{FF2B5EF4-FFF2-40B4-BE49-F238E27FC236}">
                  <a16:creationId xmlns:a16="http://schemas.microsoft.com/office/drawing/2014/main" id="{8C540445-24D2-44A8-4636-FDDA9A3D2935}"/>
                </a:ext>
              </a:extLst>
            </p:cNvPr>
            <p:cNvSpPr/>
            <p:nvPr/>
          </p:nvSpPr>
          <p:spPr>
            <a:xfrm>
              <a:off x="4711450" y="4530723"/>
              <a:ext cx="4057799" cy="307777"/>
            </a:xfrm>
            <a:prstGeom prst="roundRect">
              <a:avLst>
                <a:gd name="adj" fmla="val 20632"/>
              </a:avLst>
            </a:prstGeom>
            <a:solidFill>
              <a:srgbClr val="EF4444">
                <a:alpha val="8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0F8988AC-61C8-61B8-9987-AA91BA3F289F}"/>
                </a:ext>
              </a:extLst>
            </p:cNvPr>
            <p:cNvSpPr/>
            <p:nvPr/>
          </p:nvSpPr>
          <p:spPr>
            <a:xfrm>
              <a:off x="4901950" y="4594123"/>
              <a:ext cx="3789197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FCA5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✗ </a:t>
              </a:r>
              <a:r>
                <a:rPr lang="en-US" sz="1000" dirty="0" err="1">
                  <a:solidFill>
                    <a:srgbClr val="FCA5A5"/>
                  </a:solidFill>
                  <a:latin typeface="Arial" pitchFamily="34" charset="0"/>
                  <a:cs typeface="Arial" pitchFamily="34" charset="-120"/>
                </a:rPr>
                <a:t>左</a:t>
              </a:r>
              <a:r>
                <a:rPr lang="en-US" sz="1000" dirty="0">
                  <a:solidFill>
                    <a:srgbClr val="FCA5A5"/>
                  </a:solidFill>
                  <a:latin typeface="Arial" pitchFamily="34" charset="0"/>
                  <a:cs typeface="Arial" pitchFamily="34" charset="-120"/>
                </a:rPr>
                <a:t>/右肘角、左肩角各5次偏差 · </a:t>
              </a:r>
              <a:r>
                <a:rPr lang="en-US" sz="1000" dirty="0" err="1">
                  <a:solidFill>
                    <a:srgbClr val="FCA5A5"/>
                  </a:solidFill>
                  <a:latin typeface="Arial" pitchFamily="34" charset="0"/>
                  <a:cs typeface="Arial" pitchFamily="34" charset="-120"/>
                </a:rPr>
                <a:t>多帧抑噪有效</a:t>
              </a:r>
              <a:endParaRPr lang="en-US" sz="1000" dirty="0"/>
            </a:p>
          </p:txBody>
        </p:sp>
      </p:grpSp>
      <p:pic>
        <p:nvPicPr>
          <p:cNvPr id="2" name="Image 0" descr="/Users/I072157/科创/tennis_coach/data/docsource/正确姿势关键帧截.jpg">
            <a:extLst>
              <a:ext uri="{FF2B5EF4-FFF2-40B4-BE49-F238E27FC236}">
                <a16:creationId xmlns:a16="http://schemas.microsoft.com/office/drawing/2014/main" id="{890185C2-2C80-D396-6C0D-F38D62845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7" y="1746684"/>
            <a:ext cx="1283970" cy="2011680"/>
          </a:xfrm>
          <a:prstGeom prst="rect">
            <a:avLst/>
          </a:prstGeom>
        </p:spPr>
      </p:pic>
      <p:pic>
        <p:nvPicPr>
          <p:cNvPr id="3" name="Image 1" descr="/Users/I072157/科创/tennis_coach/data/docsource/正确视频结果.jpg">
            <a:extLst>
              <a:ext uri="{FF2B5EF4-FFF2-40B4-BE49-F238E27FC236}">
                <a16:creationId xmlns:a16="http://schemas.microsoft.com/office/drawing/2014/main" id="{1E0AF58A-3182-152E-A062-E8EAF366A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466" y="1746684"/>
            <a:ext cx="2375049" cy="1970910"/>
          </a:xfrm>
          <a:prstGeom prst="rect">
            <a:avLst/>
          </a:prstGeom>
        </p:spPr>
      </p:pic>
      <p:pic>
        <p:nvPicPr>
          <p:cNvPr id="4" name="Image 3" descr="/Users/I072157/科创/tennis_coach/data/docsource/错误视频关键帧.jpg">
            <a:extLst>
              <a:ext uri="{FF2B5EF4-FFF2-40B4-BE49-F238E27FC236}">
                <a16:creationId xmlns:a16="http://schemas.microsoft.com/office/drawing/2014/main" id="{404E7951-E059-B250-2821-A7522A0B0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126" y="1746684"/>
            <a:ext cx="1287658" cy="2011680"/>
          </a:xfrm>
          <a:prstGeom prst="rect">
            <a:avLst/>
          </a:prstGeom>
        </p:spPr>
      </p:pic>
      <p:pic>
        <p:nvPicPr>
          <p:cNvPr id="5" name="Image 2" descr="/Users/I072157/科创/tennis_coach/data/docsource/错误姿势关键帧截频.jpg">
            <a:extLst>
              <a:ext uri="{FF2B5EF4-FFF2-40B4-BE49-F238E27FC236}">
                <a16:creationId xmlns:a16="http://schemas.microsoft.com/office/drawing/2014/main" id="{3904F9A3-70A2-1238-DDB2-2685866B8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33" y="1773576"/>
            <a:ext cx="2448079" cy="1996404"/>
          </a:xfrm>
          <a:prstGeom prst="rect">
            <a:avLst/>
          </a:prstGeom>
        </p:spPr>
      </p:pic>
      <p:sp>
        <p:nvSpPr>
          <p:cNvPr id="6" name="Text 12">
            <a:extLst>
              <a:ext uri="{FF2B5EF4-FFF2-40B4-BE49-F238E27FC236}">
                <a16:creationId xmlns:a16="http://schemas.microsoft.com/office/drawing/2014/main" id="{95335A30-9B85-B902-76F3-638A3E37D4CB}"/>
              </a:ext>
            </a:extLst>
          </p:cNvPr>
          <p:cNvSpPr/>
          <p:nvPr/>
        </p:nvSpPr>
        <p:spPr>
          <a:xfrm>
            <a:off x="4730651" y="774650"/>
            <a:ext cx="2558933" cy="431602"/>
          </a:xfrm>
          <a:prstGeom prst="roundRect">
            <a:avLst>
              <a:gd name="adj" fmla="val 1765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CD1F4955-6615-00C6-1B02-01FC838F3E75}"/>
              </a:ext>
            </a:extLst>
          </p:cNvPr>
          <p:cNvSpPr/>
          <p:nvPr/>
        </p:nvSpPr>
        <p:spPr>
          <a:xfrm>
            <a:off x="4867126" y="890439"/>
            <a:ext cx="1550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实验四 · 不规范动作视频</a:t>
            </a:r>
            <a:endParaRPr lang="en-US" sz="11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73BE299F-73F3-D34D-7F02-35499DA5E617}"/>
              </a:ext>
            </a:extLst>
          </p:cNvPr>
          <p:cNvSpPr/>
          <p:nvPr/>
        </p:nvSpPr>
        <p:spPr>
          <a:xfrm>
            <a:off x="6614591" y="852202"/>
            <a:ext cx="6107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62.8分</a:t>
            </a:r>
            <a:endParaRPr lang="en-US" sz="1600" dirty="0"/>
          </a:p>
        </p:txBody>
      </p:sp>
      <p:sp>
        <p:nvSpPr>
          <p:cNvPr id="9" name="Shape 19">
            <a:extLst>
              <a:ext uri="{FF2B5EF4-FFF2-40B4-BE49-F238E27FC236}">
                <a16:creationId xmlns:a16="http://schemas.microsoft.com/office/drawing/2014/main" id="{CF44E3A1-A9B0-43AA-7663-38F63D1E5372}"/>
              </a:ext>
            </a:extLst>
          </p:cNvPr>
          <p:cNvSpPr/>
          <p:nvPr/>
        </p:nvSpPr>
        <p:spPr>
          <a:xfrm>
            <a:off x="4749701" y="4541293"/>
            <a:ext cx="0" cy="30777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80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历史记录与进步追踪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25401"/>
            <a:ext cx="3651349" cy="1026914"/>
          </a:xfrm>
          <a:prstGeom prst="roundRect">
            <a:avLst>
              <a:gd name="adj" fmla="val 865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66725" y="825401"/>
            <a:ext cx="0" cy="102691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1300" y="9650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591" y="1054342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601" y="965002"/>
            <a:ext cx="29538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进步曲线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7601" y="1250752"/>
            <a:ext cx="2953816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每次评估自动记录，折线图展示训练趋势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79265"/>
            <a:ext cx="3651349" cy="1026914"/>
          </a:xfrm>
          <a:prstGeom prst="roundRect">
            <a:avLst>
              <a:gd name="adj" fmla="val 8657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979265"/>
            <a:ext cx="0" cy="102691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641300" y="211886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591" y="2208207"/>
            <a:ext cx="19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7601" y="2118866"/>
            <a:ext cx="29538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历史评估记录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7601" y="2404616"/>
            <a:ext cx="2953816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保存动作、得分、问题列表，可按学员查询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33130"/>
            <a:ext cx="1149400" cy="793552"/>
          </a:xfrm>
          <a:prstGeom prst="roundRect">
            <a:avLst>
              <a:gd name="adj" fmla="val 11203"/>
            </a:avLst>
          </a:prstGeom>
          <a:solidFill>
            <a:srgbClr val="16243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2008" y="3282255"/>
            <a:ext cx="91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2008" y="3574256"/>
            <a:ext cx="919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总测试次数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08100" y="3133130"/>
            <a:ext cx="1149548" cy="793552"/>
          </a:xfrm>
          <a:prstGeom prst="roundRect">
            <a:avLst>
              <a:gd name="adj" fmla="val 11203"/>
            </a:avLst>
          </a:prstGeom>
          <a:solidFill>
            <a:srgbClr val="16243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22906" y="3282255"/>
            <a:ext cx="9199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2906" y="3574256"/>
            <a:ext cx="91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59150" y="3133130"/>
            <a:ext cx="1149400" cy="793552"/>
          </a:xfrm>
          <a:prstGeom prst="roundRect">
            <a:avLst>
              <a:gd name="adj" fmla="val 11203"/>
            </a:avLst>
          </a:prstGeom>
          <a:solidFill>
            <a:srgbClr val="162435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73957" y="3282255"/>
            <a:ext cx="91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3957" y="3574256"/>
            <a:ext cx="919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动作类型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86251" y="825402"/>
            <a:ext cx="3651350" cy="3824420"/>
          </a:xfrm>
          <a:prstGeom prst="roundRect">
            <a:avLst>
              <a:gd name="adj" fmla="val 2484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0" descr="/Users/I072157/科创/tennis_coach/data/docsource/第五页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45717"/>
            <a:ext cx="3048868" cy="36106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F3E5CE90-1A7E-3F66-B4D8-42DE2E23669D}"/>
              </a:ext>
            </a:extLst>
          </p:cNvPr>
          <p:cNvSpPr/>
          <p:nvPr/>
        </p:nvSpPr>
        <p:spPr>
          <a:xfrm>
            <a:off x="558701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DFDF20B0-D0A6-C1E0-7E66-6F6B357FF374}"/>
              </a:ext>
            </a:extLst>
          </p:cNvPr>
          <p:cNvSpPr/>
          <p:nvPr/>
        </p:nvSpPr>
        <p:spPr>
          <a:xfrm>
            <a:off x="685651" y="304800"/>
            <a:ext cx="12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9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8D0807F9-A9F8-80A2-7EF1-AA7DE7DEAEB0}"/>
              </a:ext>
            </a:extLst>
          </p:cNvPr>
          <p:cNvSpPr/>
          <p:nvPr/>
        </p:nvSpPr>
        <p:spPr>
          <a:xfrm>
            <a:off x="558701" y="825401"/>
            <a:ext cx="8026598" cy="681633"/>
          </a:xfrm>
          <a:prstGeom prst="roundRect">
            <a:avLst>
              <a:gd name="adj" fmla="val 1304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7152535-DCEA-4C4C-CB69-92A2409D113E}"/>
              </a:ext>
            </a:extLst>
          </p:cNvPr>
          <p:cNvSpPr/>
          <p:nvPr/>
        </p:nvSpPr>
        <p:spPr>
          <a:xfrm>
            <a:off x="568226" y="825401"/>
            <a:ext cx="0" cy="681633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C220BBA-6BED-DC3E-AF90-521D328D7C75}"/>
              </a:ext>
            </a:extLst>
          </p:cNvPr>
          <p:cNvSpPr/>
          <p:nvPr/>
        </p:nvSpPr>
        <p:spPr>
          <a:xfrm>
            <a:off x="704701" y="1050436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14E7849-7739-2416-3CAB-5040B4B2E9F0}"/>
              </a:ext>
            </a:extLst>
          </p:cNvPr>
          <p:cNvSpPr/>
          <p:nvPr/>
        </p:nvSpPr>
        <p:spPr>
          <a:xfrm>
            <a:off x="1009501" y="914251"/>
            <a:ext cx="4018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双引擎架构</a:t>
            </a:r>
            <a:endParaRPr lang="en-US" sz="14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5C01375A-E37B-0982-C763-CAE7A45E2A2B}"/>
              </a:ext>
            </a:extLst>
          </p:cNvPr>
          <p:cNvSpPr/>
          <p:nvPr/>
        </p:nvSpPr>
        <p:spPr>
          <a:xfrm>
            <a:off x="1009501" y="1187202"/>
            <a:ext cx="401857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百度API + MediaPipe，在线/离线切换，检测17关键点</a:t>
            </a:r>
            <a:endParaRPr lang="en-US" sz="13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E22A565-0A5F-A28E-DE7C-3B3299DE29DF}"/>
              </a:ext>
            </a:extLst>
          </p:cNvPr>
          <p:cNvSpPr/>
          <p:nvPr/>
        </p:nvSpPr>
        <p:spPr>
          <a:xfrm>
            <a:off x="558701" y="1621334"/>
            <a:ext cx="8026598" cy="681633"/>
          </a:xfrm>
          <a:prstGeom prst="roundRect">
            <a:avLst>
              <a:gd name="adj" fmla="val 1304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DC12E833-2E22-DA57-4A3E-888E960AA9C8}"/>
              </a:ext>
            </a:extLst>
          </p:cNvPr>
          <p:cNvSpPr/>
          <p:nvPr/>
        </p:nvSpPr>
        <p:spPr>
          <a:xfrm>
            <a:off x="568226" y="1621334"/>
            <a:ext cx="0" cy="681633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141AD568-58A7-28B3-B96E-62BB7D5066A4}"/>
              </a:ext>
            </a:extLst>
          </p:cNvPr>
          <p:cNvSpPr/>
          <p:nvPr/>
        </p:nvSpPr>
        <p:spPr>
          <a:xfrm>
            <a:off x="704701" y="1846369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AE8A281-2D2B-6348-D2B8-B72ED5B1C457}"/>
              </a:ext>
            </a:extLst>
          </p:cNvPr>
          <p:cNvSpPr/>
          <p:nvPr/>
        </p:nvSpPr>
        <p:spPr>
          <a:xfrm>
            <a:off x="1009501" y="1710184"/>
            <a:ext cx="33914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量化评分体系</a:t>
            </a:r>
            <a:endParaRPr lang="en-US" sz="14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99BB133-A85A-58FF-0A80-383562A713C9}"/>
              </a:ext>
            </a:extLst>
          </p:cNvPr>
          <p:cNvSpPr/>
          <p:nvPr/>
        </p:nvSpPr>
        <p:spPr>
          <a:xfrm>
            <a:off x="1009501" y="1983135"/>
            <a:ext cx="339146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 + 平方惩罚，80次测试成功率95%</a:t>
            </a:r>
            <a:endParaRPr lang="en-US" sz="13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DB5C1086-E1EF-5ED9-3892-9C3EBC1E86EE}"/>
              </a:ext>
            </a:extLst>
          </p:cNvPr>
          <p:cNvSpPr/>
          <p:nvPr/>
        </p:nvSpPr>
        <p:spPr>
          <a:xfrm>
            <a:off x="558701" y="2417266"/>
            <a:ext cx="8026598" cy="681633"/>
          </a:xfrm>
          <a:prstGeom prst="roundRect">
            <a:avLst>
              <a:gd name="adj" fmla="val 1304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882B886E-28C3-17A6-6BC0-BE4656848410}"/>
              </a:ext>
            </a:extLst>
          </p:cNvPr>
          <p:cNvSpPr/>
          <p:nvPr/>
        </p:nvSpPr>
        <p:spPr>
          <a:xfrm>
            <a:off x="568226" y="2417266"/>
            <a:ext cx="0" cy="681633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BB128082-706D-415B-4806-4DA03922D973}"/>
              </a:ext>
            </a:extLst>
          </p:cNvPr>
          <p:cNvSpPr/>
          <p:nvPr/>
        </p:nvSpPr>
        <p:spPr>
          <a:xfrm>
            <a:off x="704701" y="2642302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40973A73-FCC7-5B75-8532-A2887FDDD518}"/>
              </a:ext>
            </a:extLst>
          </p:cNvPr>
          <p:cNvSpPr/>
          <p:nvPr/>
        </p:nvSpPr>
        <p:spPr>
          <a:xfrm>
            <a:off x="1009501" y="2506117"/>
            <a:ext cx="3381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 + 语义融合</a:t>
            </a:r>
            <a:endParaRPr lang="en-US" sz="14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2C03E555-E12D-22B0-44EF-B8E54623722A}"/>
              </a:ext>
            </a:extLst>
          </p:cNvPr>
          <p:cNvSpPr/>
          <p:nvPr/>
        </p:nvSpPr>
        <p:spPr>
          <a:xfrm>
            <a:off x="1009501" y="2779068"/>
            <a:ext cx="338175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角度偏差量化 × LLM建议，互补覆盖技术细节</a:t>
            </a:r>
            <a:endParaRPr lang="en-US" sz="13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E59BCE2C-64DC-44E6-409E-AB7F9F44320D}"/>
              </a:ext>
            </a:extLst>
          </p:cNvPr>
          <p:cNvSpPr/>
          <p:nvPr/>
        </p:nvSpPr>
        <p:spPr>
          <a:xfrm>
            <a:off x="558701" y="3213199"/>
            <a:ext cx="8026598" cy="1416844"/>
          </a:xfrm>
          <a:prstGeom prst="roundRect">
            <a:avLst>
              <a:gd name="adj" fmla="val 627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9D1B1FFB-C3DE-4E36-D593-55FCC9C0D7E6}"/>
              </a:ext>
            </a:extLst>
          </p:cNvPr>
          <p:cNvSpPr/>
          <p:nvPr/>
        </p:nvSpPr>
        <p:spPr>
          <a:xfrm>
            <a:off x="568226" y="3213199"/>
            <a:ext cx="0" cy="14168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61BB4717-17ED-D510-3CF8-496EEDFDDAEB}"/>
              </a:ext>
            </a:extLst>
          </p:cNvPr>
          <p:cNvSpPr/>
          <p:nvPr/>
        </p:nvSpPr>
        <p:spPr>
          <a:xfrm>
            <a:off x="704701" y="3302050"/>
            <a:ext cx="79087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当前局限 → 未来方向</a:t>
            </a:r>
            <a:endParaRPr lang="en-US" sz="13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EF8A0065-019B-F067-06D5-0544962111C3}"/>
              </a:ext>
            </a:extLst>
          </p:cNvPr>
          <p:cNvSpPr/>
          <p:nvPr/>
        </p:nvSpPr>
        <p:spPr>
          <a:xfrm>
            <a:off x="704701" y="3600450"/>
            <a:ext cx="7908721" cy="3135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模板代表性不足 → 扩充样本</a:t>
            </a:r>
            <a:endParaRPr lang="en-US" sz="13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9F3800A6-31F0-3FA8-0AD9-49FAECFA25F4}"/>
              </a:ext>
            </a:extLst>
          </p:cNvPr>
          <p:cNvSpPr/>
          <p:nvPr/>
        </p:nvSpPr>
        <p:spPr>
          <a:xfrm>
            <a:off x="704701" y="3914031"/>
            <a:ext cx="7908721" cy="3135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阈值依赖经验 → 数据驱动标定</a:t>
            </a:r>
            <a:endParaRPr lang="en-US" sz="13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C9941E0A-2C61-855F-5810-2B76D4B7FA0C}"/>
              </a:ext>
            </a:extLst>
          </p:cNvPr>
          <p:cNvSpPr/>
          <p:nvPr/>
        </p:nvSpPr>
        <p:spPr>
          <a:xfrm>
            <a:off x="704701" y="4227612"/>
            <a:ext cx="7908721" cy="3135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视频处理慢 → 轻量化/移动端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1050" y="920800"/>
            <a:ext cx="3301901" cy="3301901"/>
          </a:xfrm>
          <a:prstGeom prst="roundRect">
            <a:avLst>
              <a:gd name="adj" fmla="val 27693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2050" y="1301800"/>
            <a:ext cx="2539901" cy="2539901"/>
          </a:xfrm>
          <a:prstGeom prst="roundRect">
            <a:avLst>
              <a:gd name="adj" fmla="val 36001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83050" y="1682800"/>
            <a:ext cx="1777901" cy="1777901"/>
          </a:xfrm>
          <a:prstGeom prst="roundRect">
            <a:avLst>
              <a:gd name="adj" fmla="val 51431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56256" y="2319337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788</Words>
  <Application>Microsoft Macintosh PowerPoint</Application>
  <PresentationFormat>On-screen Show (16:9)</PresentationFormat>
  <Paragraphs>319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 Math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基于计算机视觉与大语言模型的网球动作智能教练系统</dc:title>
  <dc:subject>PptxGenJS Presentation</dc:subject>
  <dc:creator>PptxGenJS</dc:creator>
  <cp:lastModifiedBy>Zhou, Rita</cp:lastModifiedBy>
  <cp:revision>59</cp:revision>
  <dcterms:created xsi:type="dcterms:W3CDTF">2026-07-27T17:35:05Z</dcterms:created>
  <dcterms:modified xsi:type="dcterms:W3CDTF">2026-07-28T13:05:40Z</dcterms:modified>
</cp:coreProperties>
</file>