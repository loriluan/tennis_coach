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7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2"/>
    <p:restoredTop sz="94610"/>
  </p:normalViewPr>
  <p:slideViewPr>
    <p:cSldViewPr snapToGrid="0" snapToObjects="1">
      <p:cViewPr varScale="1">
        <p:scale>
          <a:sx n="194" d="100"/>
          <a:sy n="194" d="100"/>
        </p:scale>
        <p:origin x="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889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D8103-F575-F5E7-A78D-661DD7625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79A2B-39C1-B192-19A7-71AA4A6E12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276AF-170E-50C4-4746-9AAF96C02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D806F-CC11-3C3C-13A8-E1C95C005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14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3AA31-4783-3EF0-3E44-2BB85EA9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6BAD5-BD57-82BE-664E-C244197A4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2B7B2-E198-753C-6E40-E4D62AC48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6505A-0843-D1DB-5EB5-17C6CB12F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47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967F4-B57B-3A75-3483-2BEFC7D6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41778-8FC1-3774-EF4F-093F1E77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FFE5E-24C6-9E85-3BEF-5A9AB64BE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BE1B4-EBD9-A4F0-1D4D-FE142C3700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44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701" y="1936701"/>
            <a:ext cx="4414582" cy="817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45"/>
              </a:lnSpc>
              <a:spcBef>
                <a:spcPts val="1200"/>
              </a:spcBef>
              <a:spcAft>
                <a:spcPts val="1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基于计算机视觉与大语言模型的网球动作智能教练系统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8701" y="3026718"/>
            <a:ext cx="381000" cy="25301"/>
          </a:xfrm>
          <a:prstGeom prst="roundRect">
            <a:avLst>
              <a:gd name="adj" fmla="val 100391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3229719"/>
            <a:ext cx="37826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Tennis Action Intelligent Coaching System · CV × LLM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59401" y="1746200"/>
            <a:ext cx="1650950" cy="1650950"/>
          </a:xfrm>
          <a:prstGeom prst="roundRect">
            <a:avLst>
              <a:gd name="adj" fmla="val 55386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901" y="1936700"/>
            <a:ext cx="1269950" cy="1269950"/>
          </a:xfrm>
          <a:prstGeom prst="roundRect">
            <a:avLst>
              <a:gd name="adj" fmla="val 7200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14951" y="2101751"/>
            <a:ext cx="939701" cy="939701"/>
          </a:xfrm>
          <a:prstGeom prst="roundRect">
            <a:avLst>
              <a:gd name="adj" fmla="val 97308"/>
            </a:avLst>
          </a:prstGeom>
          <a:solidFill>
            <a:srgbClr val="162435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80014" y="2304901"/>
            <a:ext cx="4177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92013"/>
            <a:ext cx="50750" cy="2793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402" y="35555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961876"/>
            <a:ext cx="2590800" cy="425351"/>
          </a:xfrm>
          <a:prstGeom prst="roundRect">
            <a:avLst>
              <a:gd name="adj" fmla="val 17915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0626" y="10602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4977" y="107453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0727" y="1074539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8701" y="1463427"/>
            <a:ext cx="2590800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58888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7902" y="1539627"/>
            <a:ext cx="4919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8701" y="1853952"/>
            <a:ext cx="2590800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197941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7902" y="1930152"/>
            <a:ext cx="615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76451" y="961876"/>
            <a:ext cx="2590949" cy="425351"/>
          </a:xfrm>
          <a:prstGeom prst="roundRect">
            <a:avLst>
              <a:gd name="adj" fmla="val 17915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38376" y="10602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482727" y="107453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68477" y="1074539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6451" y="1463427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3402" y="158888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55653" y="1539627"/>
            <a:ext cx="738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6451" y="1853952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03402" y="197941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55653" y="1930152"/>
            <a:ext cx="98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6451" y="2244477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03402" y="236993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555653" y="2320677"/>
            <a:ext cx="98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关节角度计算模型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76451" y="2635002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3402" y="276046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55653" y="2711202"/>
            <a:ext cx="12164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加权RMSE匹配与评分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76451" y="3025527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03402" y="315098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55653" y="3101727"/>
            <a:ext cx="1107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大模型视觉语义分析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76451" y="3416052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03402" y="354151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555653" y="3492252"/>
            <a:ext cx="98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系统模块与调用链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994350" y="961876"/>
            <a:ext cx="2590949" cy="425351"/>
          </a:xfrm>
          <a:prstGeom prst="roundRect">
            <a:avLst>
              <a:gd name="adj" fmla="val 17915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56275" y="106025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00626" y="107453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86376" y="1074539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94350" y="1463427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21301" y="158888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73552" y="1539627"/>
            <a:ext cx="1107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四组实验设计与结果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94350" y="1853952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121301" y="1979414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73552" y="1930152"/>
            <a:ext cx="738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实验结果展示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94350" y="2244477"/>
            <a:ext cx="2590949" cy="314325"/>
          </a:xfrm>
          <a:prstGeom prst="roundRect">
            <a:avLst>
              <a:gd name="adj" fmla="val 2020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21301" y="2369939"/>
            <a:ext cx="63401" cy="63401"/>
          </a:xfrm>
          <a:prstGeom prst="roundRect">
            <a:avLst>
              <a:gd name="adj" fmla="val 144224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273552" y="2320677"/>
            <a:ext cx="6151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78608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204638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614613"/>
            <a:ext cx="507950" cy="25301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研究背景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目标与意义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" name="Shape 7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60000"/>
            </a:srgbClr>
          </a:solidFill>
          <a:ln w="635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D4FF">
              <a:alpha val="20000"/>
            </a:srgbClr>
          </a:solidFill>
          <a:ln w="635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D4FF">
                    <a:alpha val="8000"/>
                  </a:srgbClr>
                </a:solidFill>
              </a:rPr>
              <a:t>01</a:t>
            </a:r>
            <a:endParaRPr lang="en-US" sz="9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746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1851" y="364629"/>
            <a:ext cx="9844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2573834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911126"/>
            <a:ext cx="2573834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61851" y="1174552"/>
            <a:ext cx="22108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1851" y="1701552"/>
            <a:ext cx="22108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训练痛点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851" y="2063502"/>
            <a:ext cx="2167533" cy="1401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无教练陪同时难以发现动作偏差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错误姿势反复强化，形成肌肉记忆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视频回放主观，缺乏量化依据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纠正成本随时间大幅增加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1851" y="4280148"/>
            <a:ext cx="2210883" cy="3301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6417"/>
              </a:spcBef>
              <a:buNone/>
            </a:pPr>
            <a:r>
              <a:rPr lang="en-US" sz="85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需要客观反馈机制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84934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84934" y="911126"/>
            <a:ext cx="257398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Text 10"/>
          <p:cNvSpPr/>
          <p:nvPr/>
        </p:nvSpPr>
        <p:spPr>
          <a:xfrm>
            <a:off x="3488085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88085" y="1701552"/>
            <a:ext cx="22110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资源困境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8085" y="2063502"/>
            <a:ext cx="2167682" cy="1401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专业教练资源稀缺且费用高昂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大量爱好者难以获得持续指导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传统方式无客观量化评估手段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低成本自主训练工具极为稀缺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88085" y="4280148"/>
            <a:ext cx="2211035" cy="3301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6417"/>
              </a:spcBef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需要低成本辅助方案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11317" y="901601"/>
            <a:ext cx="2573982" cy="3962549"/>
          </a:xfrm>
          <a:prstGeom prst="roundRect">
            <a:avLst>
              <a:gd name="adj" fmla="val 493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11317" y="911126"/>
            <a:ext cx="2573982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214467" y="1174552"/>
            <a:ext cx="2211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4467" y="1701552"/>
            <a:ext cx="22110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技术空白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4467" y="2063502"/>
            <a:ext cx="2167682" cy="1401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网球专项分析系统较少见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现有研究停留学术验证层面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仅支持单一检测引擎，需手动标注</a:t>
            </a:r>
            <a:endParaRPr lang="en-US" sz="950" dirty="0"/>
          </a:p>
          <a:p>
            <a:pPr marL="342900" indent="-342900" algn="l">
              <a:lnSpc>
                <a:spcPts val="1710"/>
              </a:lnSpc>
              <a:buSzPct val="100000"/>
              <a:buChar char="•"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缺乏几何量化与语义建议的融合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4467" y="4280148"/>
            <a:ext cx="2211035" cy="330101"/>
          </a:xfrm>
          <a:prstGeom prst="rect">
            <a:avLst/>
          </a:prstGeom>
          <a:noFill/>
          <a:ln/>
        </p:spPr>
        <p:txBody>
          <a:bodyPr wrap="square" lIns="0" tIns="177800" rIns="0" bIns="0" rtlCol="0" anchor="t"/>
          <a:lstStyle/>
          <a:p>
            <a:pPr marL="0" indent="0" algn="l">
              <a:spcBef>
                <a:spcPts val="6417"/>
              </a:spcBef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需要实用落地系统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746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75667" y="341858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目标与意义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850702"/>
            <a:ext cx="3829199" cy="864989"/>
          </a:xfrm>
          <a:prstGeom prst="roundRect">
            <a:avLst>
              <a:gd name="adj" fmla="val 1027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751" y="9776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0730" y="1066502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5502" y="977652"/>
            <a:ext cx="15200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自动检测 · 客观量化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55502" y="1222028"/>
            <a:ext cx="152002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17个关键点 + 7个核心关节角度</a:t>
            </a:r>
            <a:endParaRPr lang="en-US" sz="850" dirty="0"/>
          </a:p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输出0–100分非线性量化评分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8701" y="1829991"/>
            <a:ext cx="3829199" cy="1131391"/>
          </a:xfrm>
          <a:prstGeom prst="roundRect">
            <a:avLst>
              <a:gd name="adj" fmla="val 785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751" y="195694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40730" y="204579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5502" y="1956941"/>
            <a:ext cx="31286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双模输入 · 灵活适配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5502" y="2201317"/>
            <a:ext cx="3128695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图片直接单帧评估；视频逐帧提取、多帧均值聚合，有效抑制单帧噪声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55502" y="2631430"/>
            <a:ext cx="577751" cy="203002"/>
          </a:xfrm>
          <a:prstGeom prst="roundRect">
            <a:avLst>
              <a:gd name="adj" fmla="val 25024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53877" y="266625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图片模式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809452" y="2631430"/>
            <a:ext cx="577751" cy="203002"/>
          </a:xfrm>
          <a:prstGeom prst="roundRect">
            <a:avLst>
              <a:gd name="adj" fmla="val 2502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907828" y="2666256"/>
            <a:ext cx="388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视频模式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8701" y="3075682"/>
            <a:ext cx="3829199" cy="837009"/>
          </a:xfrm>
          <a:prstGeom prst="roundRect">
            <a:avLst>
              <a:gd name="adj" fmla="val 1062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3751" y="320263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0730" y="3291483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5502" y="3202632"/>
            <a:ext cx="21955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智能建议 · 有的放矢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5502" y="3447008"/>
            <a:ext cx="2195551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LLM针对具体问题关节生成自然语言改进建议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58701" y="4026991"/>
            <a:ext cx="3829199" cy="837158"/>
          </a:xfrm>
          <a:prstGeom prst="roundRect">
            <a:avLst>
              <a:gd name="adj" fmla="val 1061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3751" y="415394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40730" y="4242792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5502" y="4153942"/>
            <a:ext cx="23116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历史追踪 · 可视进步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5502" y="4398318"/>
            <a:ext cx="2311682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存储每次评估记录，通过进步曲线追踪训练成效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65600" y="850702"/>
            <a:ext cx="12650" cy="4013448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5952" y="850702"/>
            <a:ext cx="3829348" cy="917525"/>
          </a:xfrm>
          <a:prstGeom prst="roundRect">
            <a:avLst>
              <a:gd name="adj" fmla="val 968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21002" y="9776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09852" y="1066502"/>
            <a:ext cx="12964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爱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52752" y="977652"/>
            <a:ext cx="31288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对爱好者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52752" y="1222028"/>
            <a:ext cx="3128846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随时上传照片/视频，无需教练陪同，获得客观量化反馈，问题关节直观呈现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5952" y="1882527"/>
            <a:ext cx="3829348" cy="917674"/>
          </a:xfrm>
          <a:prstGeom prst="roundRect">
            <a:avLst>
              <a:gd name="adj" fmla="val 968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21002" y="20094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09852" y="2098328"/>
            <a:ext cx="12964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52752" y="2009477"/>
            <a:ext cx="27519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对教练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52752" y="2253853"/>
            <a:ext cx="2751915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录入标准动作构建个性化模板库，有效减少重复讲解成本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5952" y="2914501"/>
            <a:ext cx="3829348" cy="917674"/>
          </a:xfrm>
          <a:prstGeom prst="roundRect">
            <a:avLst>
              <a:gd name="adj" fmla="val 968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921002" y="304145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009852" y="3130302"/>
            <a:ext cx="12964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352752" y="3041452"/>
            <a:ext cx="28927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研究价值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52752" y="3285827"/>
            <a:ext cx="2892790" cy="183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计算机视觉 × 大语言模型 × 运动训练的低成本量化落地方案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755952" y="3946475"/>
            <a:ext cx="3829348" cy="917674"/>
          </a:xfrm>
          <a:prstGeom prst="roundRect">
            <a:avLst>
              <a:gd name="adj" fmla="val 968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921002" y="407342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09852" y="4162276"/>
            <a:ext cx="12964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52752" y="4073426"/>
            <a:ext cx="31288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52752" y="4317802"/>
            <a:ext cx="3128846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双引擎检测 + 加权RMSE自动匹配 + 几何与语义融合，国内较少见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157436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417737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1985963"/>
            <a:ext cx="507950" cy="25301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2144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技术思路总览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25287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训练模式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、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接口调用以及训练模版库</a:t>
            </a:r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284306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双引擎关键点检测架构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0350" y="315738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评估模式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0350" y="3471714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核心算法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：角度计算</a:t>
            </a:r>
            <a:r>
              <a:rPr lang="en-US" altLang="zh-CN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匹配</a:t>
            </a:r>
            <a:r>
              <a:rPr lang="en-US" altLang="zh-CN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zh-CN" alt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0350" y="3786039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大模型语意分析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Shape 20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60000"/>
            </a:srgbClr>
          </a:solidFill>
          <a:ln w="6350">
            <a:solidFill>
              <a:srgbClr val="10B98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Shape 21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4" name="Shape 22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5" name="Text 23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0B981">
                    <a:alpha val="8000"/>
                  </a:srgbClr>
                </a:solidFill>
              </a:rPr>
              <a:t>02</a:t>
            </a:r>
            <a:endParaRPr lang="en-US" sz="9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4426" y="330100"/>
            <a:ext cx="1476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技术思路总览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25401"/>
            <a:ext cx="1063526" cy="285750"/>
          </a:xfrm>
          <a:prstGeom prst="roundRect">
            <a:avLst>
              <a:gd name="adj" fmla="val 88889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905681"/>
            <a:ext cx="7028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🏋️ 训练路径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12652"/>
            <a:ext cx="1483370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226939"/>
            <a:ext cx="1483370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" name="Text 6"/>
          <p:cNvSpPr/>
          <p:nvPr/>
        </p:nvSpPr>
        <p:spPr>
          <a:xfrm>
            <a:off x="520090" y="144437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20090" y="1853952"/>
            <a:ext cx="13575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0090" y="2073027"/>
            <a:ext cx="135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 / 视频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38538" y="1714202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43720" y="1212652"/>
            <a:ext cx="1483519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143720" y="1226939"/>
            <a:ext cx="1483519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Text 12"/>
          <p:cNvSpPr/>
          <p:nvPr/>
        </p:nvSpPr>
        <p:spPr>
          <a:xfrm>
            <a:off x="2206609" y="1444377"/>
            <a:ext cx="13577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06609" y="1853952"/>
            <a:ext cx="13577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06609" y="2073027"/>
            <a:ext cx="13577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百度API / MediaPipe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25208" y="1714202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30389" y="1212652"/>
            <a:ext cx="1483370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830389" y="1226939"/>
            <a:ext cx="1483370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Text 18"/>
          <p:cNvSpPr/>
          <p:nvPr/>
        </p:nvSpPr>
        <p:spPr>
          <a:xfrm>
            <a:off x="3893280" y="144437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93280" y="1853952"/>
            <a:ext cx="13575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角度计算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93280" y="2073027"/>
            <a:ext cx="135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7个核心关节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11728" y="1714202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16910" y="1212652"/>
            <a:ext cx="1483370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16910" y="1226939"/>
            <a:ext cx="1483370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5579800" y="144437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🎞️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9800" y="1853952"/>
            <a:ext cx="13575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帧合并策略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9800" y="2073027"/>
            <a:ext cx="135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均值/最高分帧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998248" y="1714202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03430" y="1212652"/>
            <a:ext cx="1483370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7203430" y="1226939"/>
            <a:ext cx="1483370" cy="0"/>
          </a:xfrm>
          <a:prstGeom prst="line">
            <a:avLst/>
          </a:prstGeom>
          <a:noFill/>
          <a:ln w="28575">
            <a:solidFill>
              <a:srgbClr val="E879F9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32" name="Text 30"/>
          <p:cNvSpPr/>
          <p:nvPr/>
        </p:nvSpPr>
        <p:spPr>
          <a:xfrm>
            <a:off x="7266320" y="1444377"/>
            <a:ext cx="135758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266320" y="1853952"/>
            <a:ext cx="13575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保存模板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6320" y="2073027"/>
            <a:ext cx="1357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加权均值合并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2520702"/>
            <a:ext cx="8229600" cy="1265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2685752"/>
            <a:ext cx="1063526" cy="285750"/>
          </a:xfrm>
          <a:prstGeom prst="roundRect">
            <a:avLst>
              <a:gd name="adj" fmla="val 88889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4426" y="2766032"/>
            <a:ext cx="7028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 评估路径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073003"/>
            <a:ext cx="1202234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57200" y="3087291"/>
            <a:ext cx="1202234" cy="0"/>
          </a:xfrm>
          <a:prstGeom prst="line">
            <a:avLst/>
          </a:prstGeom>
          <a:noFill/>
          <a:ln w="28575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0" name="Text 38"/>
          <p:cNvSpPr/>
          <p:nvPr/>
        </p:nvSpPr>
        <p:spPr>
          <a:xfrm>
            <a:off x="522902" y="3304729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2902" y="3714304"/>
            <a:ext cx="1070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2902" y="3933379"/>
            <a:ext cx="1070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 / 视频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657402" y="3574554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862584" y="3073003"/>
            <a:ext cx="1202382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1862584" y="3087291"/>
            <a:ext cx="1202382" cy="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6" name="Text 44"/>
          <p:cNvSpPr/>
          <p:nvPr/>
        </p:nvSpPr>
        <p:spPr>
          <a:xfrm>
            <a:off x="1928284" y="3304729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928284" y="3714304"/>
            <a:ext cx="1070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关键点检测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928284" y="3933379"/>
            <a:ext cx="10709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百度API / MediaPipe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062935" y="3574554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68117" y="3073003"/>
            <a:ext cx="1202234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3268117" y="3087291"/>
            <a:ext cx="1202234" cy="0"/>
          </a:xfrm>
          <a:prstGeom prst="line">
            <a:avLst/>
          </a:prstGeom>
          <a:noFill/>
          <a:ln w="285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2" name="Text 50"/>
          <p:cNvSpPr/>
          <p:nvPr/>
        </p:nvSpPr>
        <p:spPr>
          <a:xfrm>
            <a:off x="3333818" y="3304729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3333818" y="3714304"/>
            <a:ext cx="1070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角度+匹配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33818" y="3933379"/>
            <a:ext cx="1070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468319" y="3574554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673501" y="3073003"/>
            <a:ext cx="1202382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673501" y="3087291"/>
            <a:ext cx="1202382" cy="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8" name="Text 56"/>
          <p:cNvSpPr/>
          <p:nvPr/>
        </p:nvSpPr>
        <p:spPr>
          <a:xfrm>
            <a:off x="4739201" y="3304729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4739201" y="3714304"/>
            <a:ext cx="1070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39201" y="3933379"/>
            <a:ext cx="10709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873852" y="3574554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079034" y="3073003"/>
            <a:ext cx="1202234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079034" y="3087291"/>
            <a:ext cx="1202234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4" name="Text 62"/>
          <p:cNvSpPr/>
          <p:nvPr/>
        </p:nvSpPr>
        <p:spPr>
          <a:xfrm>
            <a:off x="6144735" y="3304729"/>
            <a:ext cx="107083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6144735" y="3714304"/>
            <a:ext cx="1070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LLM分析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44735" y="3933379"/>
            <a:ext cx="10708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语义建议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279236" y="3574554"/>
            <a:ext cx="2072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484418" y="3073003"/>
            <a:ext cx="1202382" cy="1155650"/>
          </a:xfrm>
          <a:prstGeom prst="roundRect">
            <a:avLst>
              <a:gd name="adj" fmla="val 879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7484418" y="3087291"/>
            <a:ext cx="1202382" cy="0"/>
          </a:xfrm>
          <a:prstGeom prst="line">
            <a:avLst/>
          </a:prstGeom>
          <a:noFill/>
          <a:ln w="28575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0" name="Text 68"/>
          <p:cNvSpPr/>
          <p:nvPr/>
        </p:nvSpPr>
        <p:spPr>
          <a:xfrm>
            <a:off x="7550118" y="3304729"/>
            <a:ext cx="107098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000" dirty="0"/>
          </a:p>
        </p:txBody>
      </p:sp>
      <p:sp>
        <p:nvSpPr>
          <p:cNvPr id="71" name="Text 69"/>
          <p:cNvSpPr/>
          <p:nvPr/>
        </p:nvSpPr>
        <p:spPr>
          <a:xfrm>
            <a:off x="7550118" y="3714304"/>
            <a:ext cx="10709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输出报告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550118" y="3933379"/>
            <a:ext cx="10709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评分+建议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08D4D-1CB4-D043-E999-46BBE26F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>
            <a:extLst>
              <a:ext uri="{FF2B5EF4-FFF2-40B4-BE49-F238E27FC236}">
                <a16:creationId xmlns:a16="http://schemas.microsoft.com/office/drawing/2014/main" id="{AD921B21-2874-171B-AA1B-F484FAA40D8B}"/>
              </a:ext>
            </a:extLst>
          </p:cNvPr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0CD1E719-FC83-91F1-C69A-517594AAE361}"/>
              </a:ext>
            </a:extLst>
          </p:cNvPr>
          <p:cNvSpPr/>
          <p:nvPr/>
        </p:nvSpPr>
        <p:spPr>
          <a:xfrm>
            <a:off x="687888" y="304056"/>
            <a:ext cx="41019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训练模式</a:t>
            </a:r>
            <a:r>
              <a:rPr lang="zh-CN" alt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接口调用以及训练模版库</a:t>
            </a:r>
            <a:endParaRPr lang="en-US" sz="1900" dirty="0"/>
          </a:p>
        </p:txBody>
      </p:sp>
      <p:sp>
        <p:nvSpPr>
          <p:cNvPr id="83" name="Text 2">
            <a:extLst>
              <a:ext uri="{FF2B5EF4-FFF2-40B4-BE49-F238E27FC236}">
                <a16:creationId xmlns:a16="http://schemas.microsoft.com/office/drawing/2014/main" id="{17AD6327-4ACC-E4CF-FF15-2CE1FA63B519}"/>
              </a:ext>
            </a:extLst>
          </p:cNvPr>
          <p:cNvSpPr/>
          <p:nvPr/>
        </p:nvSpPr>
        <p:spPr>
          <a:xfrm>
            <a:off x="457200" y="774650"/>
            <a:ext cx="880765" cy="785366"/>
          </a:xfrm>
          <a:prstGeom prst="roundRect">
            <a:avLst>
              <a:gd name="adj" fmla="val 1132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DBA888CD-C9AA-0B26-54A8-6483B6D00B64}"/>
              </a:ext>
            </a:extLst>
          </p:cNvPr>
          <p:cNvSpPr/>
          <p:nvPr/>
        </p:nvSpPr>
        <p:spPr>
          <a:xfrm>
            <a:off x="457200" y="784175"/>
            <a:ext cx="880765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FDC9DB56-A8CE-8BB3-97FB-F443432205FC}"/>
              </a:ext>
            </a:extLst>
          </p:cNvPr>
          <p:cNvSpPr/>
          <p:nvPr/>
        </p:nvSpPr>
        <p:spPr>
          <a:xfrm>
            <a:off x="558701" y="882551"/>
            <a:ext cx="6913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图片训练</a:t>
            </a:r>
            <a:endParaRPr lang="en-US" sz="900" dirty="0"/>
          </a:p>
        </p:txBody>
      </p:sp>
      <p:sp>
        <p:nvSpPr>
          <p:cNvPr id="86" name="Text 5">
            <a:extLst>
              <a:ext uri="{FF2B5EF4-FFF2-40B4-BE49-F238E27FC236}">
                <a16:creationId xmlns:a16="http://schemas.microsoft.com/office/drawing/2014/main" id="{5941E3FE-62B6-9608-987A-8DD04A3739BD}"/>
              </a:ext>
            </a:extLst>
          </p:cNvPr>
          <p:cNvSpPr/>
          <p:nvPr/>
        </p:nvSpPr>
        <p:spPr>
          <a:xfrm>
            <a:off x="558701" y="1098352"/>
            <a:ext cx="691319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单张照片 → 提取关键点 → 保存模板</a:t>
            </a:r>
            <a:endParaRPr lang="en-US" sz="700" dirty="0"/>
          </a:p>
        </p:txBody>
      </p:sp>
      <p:sp>
        <p:nvSpPr>
          <p:cNvPr id="87" name="Text 6">
            <a:extLst>
              <a:ext uri="{FF2B5EF4-FFF2-40B4-BE49-F238E27FC236}">
                <a16:creationId xmlns:a16="http://schemas.microsoft.com/office/drawing/2014/main" id="{A9AE65E6-57FE-9A8F-C3F1-33931527148B}"/>
              </a:ext>
            </a:extLst>
          </p:cNvPr>
          <p:cNvSpPr/>
          <p:nvPr/>
        </p:nvSpPr>
        <p:spPr>
          <a:xfrm>
            <a:off x="1426815" y="774650"/>
            <a:ext cx="880914" cy="785366"/>
          </a:xfrm>
          <a:prstGeom prst="roundRect">
            <a:avLst>
              <a:gd name="adj" fmla="val 1132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Shape 7">
            <a:extLst>
              <a:ext uri="{FF2B5EF4-FFF2-40B4-BE49-F238E27FC236}">
                <a16:creationId xmlns:a16="http://schemas.microsoft.com/office/drawing/2014/main" id="{4F1DF2CB-8045-3B5E-087F-96DB43DC4D66}"/>
              </a:ext>
            </a:extLst>
          </p:cNvPr>
          <p:cNvSpPr/>
          <p:nvPr/>
        </p:nvSpPr>
        <p:spPr>
          <a:xfrm>
            <a:off x="1426815" y="784175"/>
            <a:ext cx="880914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D956F58D-0071-F6E4-E52E-19E0D42C9041}"/>
              </a:ext>
            </a:extLst>
          </p:cNvPr>
          <p:cNvSpPr/>
          <p:nvPr/>
        </p:nvSpPr>
        <p:spPr>
          <a:xfrm>
            <a:off x="1528316" y="882551"/>
            <a:ext cx="691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视频训练</a:t>
            </a:r>
            <a:endParaRPr lang="en-US" sz="900" dirty="0"/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4B3C905-D318-4A73-525A-8E2B6872C0DA}"/>
              </a:ext>
            </a:extLst>
          </p:cNvPr>
          <p:cNvSpPr/>
          <p:nvPr/>
        </p:nvSpPr>
        <p:spPr>
          <a:xfrm>
            <a:off x="1528316" y="1098352"/>
            <a:ext cx="69147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逐帧提取 → 多帧均值 → 模板</a:t>
            </a:r>
            <a:endParaRPr lang="en-US" sz="700" dirty="0"/>
          </a:p>
        </p:txBody>
      </p:sp>
      <p:sp>
        <p:nvSpPr>
          <p:cNvPr id="91" name="Text 10">
            <a:extLst>
              <a:ext uri="{FF2B5EF4-FFF2-40B4-BE49-F238E27FC236}">
                <a16:creationId xmlns:a16="http://schemas.microsoft.com/office/drawing/2014/main" id="{E13A78CD-75B0-E958-34E2-77A99004C41E}"/>
              </a:ext>
            </a:extLst>
          </p:cNvPr>
          <p:cNvSpPr/>
          <p:nvPr/>
        </p:nvSpPr>
        <p:spPr>
          <a:xfrm>
            <a:off x="2396579" y="774650"/>
            <a:ext cx="880914" cy="785366"/>
          </a:xfrm>
          <a:prstGeom prst="roundRect">
            <a:avLst>
              <a:gd name="adj" fmla="val 1132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Shape 11">
            <a:extLst>
              <a:ext uri="{FF2B5EF4-FFF2-40B4-BE49-F238E27FC236}">
                <a16:creationId xmlns:a16="http://schemas.microsoft.com/office/drawing/2014/main" id="{4CC461D5-1BE6-D767-EFB6-AC6568733FB4}"/>
              </a:ext>
            </a:extLst>
          </p:cNvPr>
          <p:cNvSpPr/>
          <p:nvPr/>
        </p:nvSpPr>
        <p:spPr>
          <a:xfrm>
            <a:off x="2396579" y="784175"/>
            <a:ext cx="880914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5B0D862A-8B0A-533D-C497-359C61065980}"/>
              </a:ext>
            </a:extLst>
          </p:cNvPr>
          <p:cNvSpPr/>
          <p:nvPr/>
        </p:nvSpPr>
        <p:spPr>
          <a:xfrm>
            <a:off x="2498080" y="882551"/>
            <a:ext cx="6914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批量训练</a:t>
            </a:r>
            <a:endParaRPr lang="en-US" sz="900" dirty="0"/>
          </a:p>
        </p:txBody>
      </p:sp>
      <p:sp>
        <p:nvSpPr>
          <p:cNvPr id="94" name="Text 13">
            <a:extLst>
              <a:ext uri="{FF2B5EF4-FFF2-40B4-BE49-F238E27FC236}">
                <a16:creationId xmlns:a16="http://schemas.microsoft.com/office/drawing/2014/main" id="{CCD58B42-FABF-71DF-E1D7-7DDE29EA3893}"/>
              </a:ext>
            </a:extLst>
          </p:cNvPr>
          <p:cNvSpPr/>
          <p:nvPr/>
        </p:nvSpPr>
        <p:spPr>
          <a:xfrm>
            <a:off x="2498080" y="1098352"/>
            <a:ext cx="69147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一个视频 → 多个动作阶段模板</a:t>
            </a:r>
            <a:endParaRPr lang="en-US" sz="700" dirty="0"/>
          </a:p>
        </p:txBody>
      </p:sp>
      <p:sp>
        <p:nvSpPr>
          <p:cNvPr id="95" name="Text 14">
            <a:extLst>
              <a:ext uri="{FF2B5EF4-FFF2-40B4-BE49-F238E27FC236}">
                <a16:creationId xmlns:a16="http://schemas.microsoft.com/office/drawing/2014/main" id="{77CB3C38-25C2-9C88-AD0B-497D0E040BBE}"/>
              </a:ext>
            </a:extLst>
          </p:cNvPr>
          <p:cNvSpPr/>
          <p:nvPr/>
        </p:nvSpPr>
        <p:spPr>
          <a:xfrm>
            <a:off x="457200" y="1661517"/>
            <a:ext cx="2820293" cy="1601242"/>
          </a:xfrm>
          <a:prstGeom prst="roundRect">
            <a:avLst>
              <a:gd name="adj" fmla="val 555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6" name="Shape 15">
            <a:extLst>
              <a:ext uri="{FF2B5EF4-FFF2-40B4-BE49-F238E27FC236}">
                <a16:creationId xmlns:a16="http://schemas.microsoft.com/office/drawing/2014/main" id="{34492774-E292-4AB9-7A5A-6E2B66C9E5C1}"/>
              </a:ext>
            </a:extLst>
          </p:cNvPr>
          <p:cNvSpPr/>
          <p:nvPr/>
        </p:nvSpPr>
        <p:spPr>
          <a:xfrm>
            <a:off x="466725" y="1661517"/>
            <a:ext cx="0" cy="1601242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97" name="Text 16">
            <a:extLst>
              <a:ext uri="{FF2B5EF4-FFF2-40B4-BE49-F238E27FC236}">
                <a16:creationId xmlns:a16="http://schemas.microsoft.com/office/drawing/2014/main" id="{208D4A44-6ECA-B43F-5A3B-F9D2F8076250}"/>
              </a:ext>
            </a:extLst>
          </p:cNvPr>
          <p:cNvSpPr/>
          <p:nvPr/>
        </p:nvSpPr>
        <p:spPr>
          <a:xfrm>
            <a:off x="603200" y="1750368"/>
            <a:ext cx="25982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方式一：</a:t>
            </a: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百度人体分析 API</a:t>
            </a:r>
            <a:endParaRPr lang="en-US" sz="900" dirty="0"/>
          </a:p>
        </p:txBody>
      </p:sp>
      <p:sp>
        <p:nvSpPr>
          <p:cNvPr id="98" name="Text 17">
            <a:extLst>
              <a:ext uri="{FF2B5EF4-FFF2-40B4-BE49-F238E27FC236}">
                <a16:creationId xmlns:a16="http://schemas.microsoft.com/office/drawing/2014/main" id="{02D8F81F-A9B8-B40E-032B-1B57F53394C2}"/>
              </a:ext>
            </a:extLst>
          </p:cNvPr>
          <p:cNvSpPr/>
          <p:nvPr/>
        </p:nvSpPr>
        <p:spPr>
          <a:xfrm>
            <a:off x="603200" y="1959918"/>
            <a:ext cx="2598289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7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"baidu"</a:t>
            </a:r>
            <a:r>
              <a:rPr lang="en-US" sz="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POST aip.baidubce.com/body_analysis</a:t>
            </a:r>
            <a:endParaRPr lang="en-US" sz="700" dirty="0"/>
          </a:p>
        </p:txBody>
      </p:sp>
      <p:sp>
        <p:nvSpPr>
          <p:cNvPr id="99" name="Text 18">
            <a:extLst>
              <a:ext uri="{FF2B5EF4-FFF2-40B4-BE49-F238E27FC236}">
                <a16:creationId xmlns:a16="http://schemas.microsoft.com/office/drawing/2014/main" id="{9AB57B4C-2DBD-5E8A-A7AA-40E13457CFDE}"/>
              </a:ext>
            </a:extLst>
          </p:cNvPr>
          <p:cNvSpPr/>
          <p:nvPr/>
        </p:nvSpPr>
        <p:spPr>
          <a:xfrm>
            <a:off x="603200" y="2299841"/>
            <a:ext cx="1572518" cy="183952"/>
          </a:xfrm>
          <a:prstGeom prst="roundRect">
            <a:avLst>
              <a:gd name="adj" fmla="val 2761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0" name="Text 19">
            <a:extLst>
              <a:ext uri="{FF2B5EF4-FFF2-40B4-BE49-F238E27FC236}">
                <a16:creationId xmlns:a16="http://schemas.microsoft.com/office/drawing/2014/main" id="{99034291-A319-12C1-D2CF-96A039B1B119}"/>
              </a:ext>
            </a:extLst>
          </p:cNvPr>
          <p:cNvSpPr/>
          <p:nvPr/>
        </p:nvSpPr>
        <p:spPr>
          <a:xfrm>
            <a:off x="688925" y="2334667"/>
            <a:ext cx="14290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 BAIDU_API_KEY · 输出 2D (x, y)</a:t>
            </a:r>
            <a:endParaRPr lang="en-US" sz="650" dirty="0"/>
          </a:p>
        </p:txBody>
      </p:sp>
      <p:sp>
        <p:nvSpPr>
          <p:cNvPr id="101" name="Text 20">
            <a:extLst>
              <a:ext uri="{FF2B5EF4-FFF2-40B4-BE49-F238E27FC236}">
                <a16:creationId xmlns:a16="http://schemas.microsoft.com/office/drawing/2014/main" id="{9A3E90B6-B68C-99AA-94F5-B46D1113DB7F}"/>
              </a:ext>
            </a:extLst>
          </p:cNvPr>
          <p:cNvSpPr/>
          <p:nvPr/>
        </p:nvSpPr>
        <p:spPr>
          <a:xfrm>
            <a:off x="457200" y="3338959"/>
            <a:ext cx="2820293" cy="1601391"/>
          </a:xfrm>
          <a:prstGeom prst="roundRect">
            <a:avLst>
              <a:gd name="adj" fmla="val 5551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Shape 21">
            <a:extLst>
              <a:ext uri="{FF2B5EF4-FFF2-40B4-BE49-F238E27FC236}">
                <a16:creationId xmlns:a16="http://schemas.microsoft.com/office/drawing/2014/main" id="{C293B35F-E974-A88E-F6B6-2768263FA64A}"/>
              </a:ext>
            </a:extLst>
          </p:cNvPr>
          <p:cNvSpPr/>
          <p:nvPr/>
        </p:nvSpPr>
        <p:spPr>
          <a:xfrm>
            <a:off x="466725" y="3338959"/>
            <a:ext cx="0" cy="1601391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0B64B15A-9250-1139-DE9E-1D628A7C3118}"/>
              </a:ext>
            </a:extLst>
          </p:cNvPr>
          <p:cNvSpPr/>
          <p:nvPr/>
        </p:nvSpPr>
        <p:spPr>
          <a:xfrm>
            <a:off x="603200" y="3427809"/>
            <a:ext cx="2598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方式二：</a:t>
            </a: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Pose</a:t>
            </a:r>
            <a:endParaRPr lang="en-US" sz="900" dirty="0"/>
          </a:p>
        </p:txBody>
      </p:sp>
      <p:sp>
        <p:nvSpPr>
          <p:cNvPr id="104" name="Text 23">
            <a:extLst>
              <a:ext uri="{FF2B5EF4-FFF2-40B4-BE49-F238E27FC236}">
                <a16:creationId xmlns:a16="http://schemas.microsoft.com/office/drawing/2014/main" id="{6F12DD89-71F4-9F5A-A66C-D9DA5E2FC975}"/>
              </a:ext>
            </a:extLst>
          </p:cNvPr>
          <p:cNvSpPr/>
          <p:nvPr/>
        </p:nvSpPr>
        <p:spPr>
          <a:xfrm>
            <a:off x="603200" y="3656409"/>
            <a:ext cx="2598289" cy="301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7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7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"mediapipe"</a:t>
            </a:r>
            <a:r>
              <a:rPr lang="en-US" sz="7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model: pose_landmarker_heavy.task</a:t>
            </a:r>
            <a:endParaRPr lang="en-US" sz="7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CE02A7A0-14E4-1EF6-5F0E-21E4800C16F2}"/>
              </a:ext>
            </a:extLst>
          </p:cNvPr>
          <p:cNvSpPr/>
          <p:nvPr/>
        </p:nvSpPr>
        <p:spPr>
          <a:xfrm>
            <a:off x="603200" y="3996333"/>
            <a:ext cx="1155204" cy="183952"/>
          </a:xfrm>
          <a:prstGeom prst="roundRect">
            <a:avLst>
              <a:gd name="adj" fmla="val 27616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6" name="Text 25">
            <a:extLst>
              <a:ext uri="{FF2B5EF4-FFF2-40B4-BE49-F238E27FC236}">
                <a16:creationId xmlns:a16="http://schemas.microsoft.com/office/drawing/2014/main" id="{FDA44831-4177-0FA9-DC73-4113567422A5}"/>
              </a:ext>
            </a:extLst>
          </p:cNvPr>
          <p:cNvSpPr/>
          <p:nvPr/>
        </p:nvSpPr>
        <p:spPr>
          <a:xfrm>
            <a:off x="688925" y="4031159"/>
            <a:ext cx="10034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无需网络 · 输出 3D (x, y, z)</a:t>
            </a:r>
            <a:endParaRPr lang="en-US" sz="650" dirty="0"/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B21B78FB-6910-8FAD-AB31-C2FCE9FF9658}"/>
              </a:ext>
            </a:extLst>
          </p:cNvPr>
          <p:cNvSpPr/>
          <p:nvPr/>
        </p:nvSpPr>
        <p:spPr>
          <a:xfrm>
            <a:off x="3429893" y="774650"/>
            <a:ext cx="5256907" cy="4165699"/>
          </a:xfrm>
          <a:prstGeom prst="roundRect">
            <a:avLst>
              <a:gd name="adj" fmla="val 2439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8" name="Image 0" descr="/Users/I072157/科创/tennis_coach/data/docsource/第一页.jpg">
            <a:extLst>
              <a:ext uri="{FF2B5EF4-FFF2-40B4-BE49-F238E27FC236}">
                <a16:creationId xmlns:a16="http://schemas.microsoft.com/office/drawing/2014/main" id="{0DFEAD8E-4175-6260-5E5B-803F08EE9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903" y="1073051"/>
            <a:ext cx="2279335" cy="3474720"/>
          </a:xfrm>
          <a:prstGeom prst="rect">
            <a:avLst/>
          </a:prstGeom>
        </p:spPr>
      </p:pic>
      <p:pic>
        <p:nvPicPr>
          <p:cNvPr id="109" name="Image 1" descr="/Users/I072157/科创/tennis_coach/data/docsource/第四页.jpg">
            <a:extLst>
              <a:ext uri="{FF2B5EF4-FFF2-40B4-BE49-F238E27FC236}">
                <a16:creationId xmlns:a16="http://schemas.microsoft.com/office/drawing/2014/main" id="{FB213F92-5129-DD7C-76FC-2611121CE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660" y="1073051"/>
            <a:ext cx="2313023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86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46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3951" y="345469"/>
            <a:ext cx="2461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双引擎关键点检测架构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48668"/>
            <a:ext cx="2486620" cy="3264396"/>
          </a:xfrm>
          <a:prstGeom prst="roundRect">
            <a:avLst>
              <a:gd name="adj" fmla="val 408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4901" y="1126367"/>
            <a:ext cx="2131219" cy="345877"/>
          </a:xfrm>
          <a:prstGeom prst="roundRect">
            <a:avLst>
              <a:gd name="adj" fmla="val 18359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199293"/>
            <a:ext cx="18954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 百度人体分析 API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4901" y="1599194"/>
            <a:ext cx="213121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云端推理，鲁棒性强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复杂背景表现更优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 17 个关键点 (x, y)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需要网络连接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2640545"/>
            <a:ext cx="670768" cy="238125"/>
          </a:xfrm>
          <a:prstGeom prst="roundRect">
            <a:avLst>
              <a:gd name="adj" fmla="val 21333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8726" y="2688170"/>
            <a:ext cx="4315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 · 2D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070771" y="948668"/>
            <a:ext cx="3002607" cy="3264396"/>
          </a:xfrm>
          <a:prstGeom prst="roundRect">
            <a:avLst>
              <a:gd name="adj" fmla="val 3384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00329" y="948668"/>
            <a:ext cx="2486471" cy="3264396"/>
          </a:xfrm>
          <a:prstGeom prst="roundRect">
            <a:avLst>
              <a:gd name="adj" fmla="val 408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78029" y="1126367"/>
            <a:ext cx="2131070" cy="364927"/>
          </a:xfrm>
          <a:prstGeom prst="roundRect">
            <a:avLst>
              <a:gd name="adj" fmla="val 17401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14505" y="1199293"/>
            <a:ext cx="18952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MediaPipe Pose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78029" y="1618244"/>
            <a:ext cx="21310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完全离线运行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输出含深度 3D 坐标 (x,y,z)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33点映射为统一17点格式</a:t>
            </a:r>
            <a:endParaRPr lang="en-US" sz="90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 neck / pelvis 虚拟点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78029" y="2659595"/>
            <a:ext cx="670768" cy="238125"/>
          </a:xfrm>
          <a:prstGeom prst="roundRect">
            <a:avLst>
              <a:gd name="adj" fmla="val 2133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01854" y="2707220"/>
            <a:ext cx="4315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 · 3D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4584799"/>
            <a:ext cx="8229600" cy="330101"/>
          </a:xfrm>
          <a:prstGeom prst="roundRect">
            <a:avLst>
              <a:gd name="adj" fmla="val 2308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6725" y="4584799"/>
            <a:ext cx="0" cy="330101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653951" y="4673650"/>
            <a:ext cx="80122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两套方案输出</a:t>
            </a:r>
            <a:r>
              <a:rPr lang="en-US" sz="8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统一格式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，后续角度计算与评分模块无缝复用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E5B9CD3-0A8C-B1CE-36BB-7059409AB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064" y="1126367"/>
            <a:ext cx="2882564" cy="21629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227CA-BFB4-1EEC-7497-C1449F197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>
            <a:extLst>
              <a:ext uri="{FF2B5EF4-FFF2-40B4-BE49-F238E27FC236}">
                <a16:creationId xmlns:a16="http://schemas.microsoft.com/office/drawing/2014/main" id="{4689C880-46DC-C82A-8313-FD8F6E19E8A2}"/>
              </a:ext>
            </a:extLst>
          </p:cNvPr>
          <p:cNvSpPr/>
          <p:nvPr/>
        </p:nvSpPr>
        <p:spPr>
          <a:xfrm>
            <a:off x="457200" y="3238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1">
            <a:extLst>
              <a:ext uri="{FF2B5EF4-FFF2-40B4-BE49-F238E27FC236}">
                <a16:creationId xmlns:a16="http://schemas.microsoft.com/office/drawing/2014/main" id="{F91223DD-B9B8-2D53-6B1E-C3818594525E}"/>
              </a:ext>
            </a:extLst>
          </p:cNvPr>
          <p:cNvSpPr/>
          <p:nvPr/>
        </p:nvSpPr>
        <p:spPr>
          <a:xfrm>
            <a:off x="641300" y="304388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评估模式</a:t>
            </a:r>
            <a:endParaRPr lang="en-US" sz="1900" dirty="0"/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57474872-D2A3-2EE9-D1C6-89ED74CD3C1C}"/>
              </a:ext>
            </a:extLst>
          </p:cNvPr>
          <p:cNvSpPr/>
          <p:nvPr/>
        </p:nvSpPr>
        <p:spPr>
          <a:xfrm>
            <a:off x="457200" y="774650"/>
            <a:ext cx="4016425" cy="634752"/>
          </a:xfrm>
          <a:prstGeom prst="roundRect">
            <a:avLst>
              <a:gd name="adj" fmla="val 1400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C65D6BF2-8A0D-36FF-D956-654031F5EE9D}"/>
              </a:ext>
            </a:extLst>
          </p:cNvPr>
          <p:cNvSpPr/>
          <p:nvPr/>
        </p:nvSpPr>
        <p:spPr>
          <a:xfrm>
            <a:off x="466725" y="774650"/>
            <a:ext cx="0" cy="63475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55" name="Text 4">
            <a:extLst>
              <a:ext uri="{FF2B5EF4-FFF2-40B4-BE49-F238E27FC236}">
                <a16:creationId xmlns:a16="http://schemas.microsoft.com/office/drawing/2014/main" id="{DAC533AA-C488-8049-4D51-32342DF35C3E}"/>
              </a:ext>
            </a:extLst>
          </p:cNvPr>
          <p:cNvSpPr/>
          <p:nvPr/>
        </p:nvSpPr>
        <p:spPr>
          <a:xfrm>
            <a:off x="641300" y="901601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B08DDD86-B2A2-B54B-8AAC-48DA09BCFC21}"/>
              </a:ext>
            </a:extLst>
          </p:cNvPr>
          <p:cNvSpPr/>
          <p:nvPr/>
        </p:nvSpPr>
        <p:spPr>
          <a:xfrm>
            <a:off x="745629" y="977801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A6B724E1-ECD8-1FDF-E1FD-04AA564D6CBE}"/>
              </a:ext>
            </a:extLst>
          </p:cNvPr>
          <p:cNvSpPr/>
          <p:nvPr/>
        </p:nvSpPr>
        <p:spPr>
          <a:xfrm>
            <a:off x="1047601" y="901601"/>
            <a:ext cx="2531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上传图片或视频</a:t>
            </a:r>
            <a:endParaRPr lang="en-US" sz="100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07415474-BD39-3F74-C2EF-7DF450E5DB6F}"/>
              </a:ext>
            </a:extLst>
          </p:cNvPr>
          <p:cNvSpPr/>
          <p:nvPr/>
        </p:nvSpPr>
        <p:spPr>
          <a:xfrm>
            <a:off x="1047601" y="1120676"/>
            <a:ext cx="253179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选择学员姓名、拍摄角度、动作类型，选择检测方案</a:t>
            </a:r>
            <a:endParaRPr lang="en-US" sz="850" dirty="0"/>
          </a:p>
        </p:txBody>
      </p:sp>
      <p:sp>
        <p:nvSpPr>
          <p:cNvPr id="59" name="Text 8">
            <a:extLst>
              <a:ext uri="{FF2B5EF4-FFF2-40B4-BE49-F238E27FC236}">
                <a16:creationId xmlns:a16="http://schemas.microsoft.com/office/drawing/2014/main" id="{36DAABFF-C284-55AC-5069-7ECCF4B56389}"/>
              </a:ext>
            </a:extLst>
          </p:cNvPr>
          <p:cNvSpPr/>
          <p:nvPr/>
        </p:nvSpPr>
        <p:spPr>
          <a:xfrm>
            <a:off x="457200" y="1523702"/>
            <a:ext cx="4016425" cy="888504"/>
          </a:xfrm>
          <a:prstGeom prst="roundRect">
            <a:avLst>
              <a:gd name="adj" fmla="val 10006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Shape 9">
            <a:extLst>
              <a:ext uri="{FF2B5EF4-FFF2-40B4-BE49-F238E27FC236}">
                <a16:creationId xmlns:a16="http://schemas.microsoft.com/office/drawing/2014/main" id="{AA06D043-1F8E-DFF2-B2C7-5332EE8F1439}"/>
              </a:ext>
            </a:extLst>
          </p:cNvPr>
          <p:cNvSpPr/>
          <p:nvPr/>
        </p:nvSpPr>
        <p:spPr>
          <a:xfrm>
            <a:off x="466725" y="1523702"/>
            <a:ext cx="0" cy="88850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1" name="Text 10">
            <a:extLst>
              <a:ext uri="{FF2B5EF4-FFF2-40B4-BE49-F238E27FC236}">
                <a16:creationId xmlns:a16="http://schemas.microsoft.com/office/drawing/2014/main" id="{4EB9CD7B-AB99-4AFF-DE2C-5E3212B1DA6B}"/>
              </a:ext>
            </a:extLst>
          </p:cNvPr>
          <p:cNvSpPr/>
          <p:nvPr/>
        </p:nvSpPr>
        <p:spPr>
          <a:xfrm>
            <a:off x="641300" y="1650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F2E10E07-365B-960E-C65A-7AE97B1EFDEA}"/>
              </a:ext>
            </a:extLst>
          </p:cNvPr>
          <p:cNvSpPr/>
          <p:nvPr/>
        </p:nvSpPr>
        <p:spPr>
          <a:xfrm>
            <a:off x="745629" y="1726853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D3B724A2-A50E-D036-5FA0-C13BAD921E26}"/>
              </a:ext>
            </a:extLst>
          </p:cNvPr>
          <p:cNvSpPr/>
          <p:nvPr/>
        </p:nvSpPr>
        <p:spPr>
          <a:xfrm>
            <a:off x="1047601" y="1650653"/>
            <a:ext cx="27397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自动识别动作阶段</a:t>
            </a:r>
            <a:endParaRPr lang="en-US" sz="1000" dirty="0"/>
          </a:p>
        </p:txBody>
      </p:sp>
      <p:sp>
        <p:nvSpPr>
          <p:cNvPr id="64" name="Text 13">
            <a:extLst>
              <a:ext uri="{FF2B5EF4-FFF2-40B4-BE49-F238E27FC236}">
                <a16:creationId xmlns:a16="http://schemas.microsoft.com/office/drawing/2014/main" id="{94320F29-016B-CFAF-0D87-45D5C19C8B50}"/>
              </a:ext>
            </a:extLst>
          </p:cNvPr>
          <p:cNvSpPr/>
          <p:nvPr/>
        </p:nvSpPr>
        <p:spPr>
          <a:xfrm>
            <a:off x="1047601" y="1869728"/>
            <a:ext cx="2739771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加权RMSE与所有模板匹配，自动找到最相似的动作阶段</a:t>
            </a:r>
            <a:endParaRPr lang="en-US" sz="850" dirty="0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8DC21348-08DB-0375-551D-0634E8E2355E}"/>
              </a:ext>
            </a:extLst>
          </p:cNvPr>
          <p:cNvSpPr/>
          <p:nvPr/>
        </p:nvSpPr>
        <p:spPr>
          <a:xfrm>
            <a:off x="1047601" y="2082254"/>
            <a:ext cx="793552" cy="203002"/>
          </a:xfrm>
          <a:prstGeom prst="roundRect">
            <a:avLst>
              <a:gd name="adj" fmla="val 25024"/>
            </a:avLst>
          </a:prstGeom>
          <a:solidFill>
            <a:srgbClr val="10B981">
              <a:alpha val="10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15">
            <a:extLst>
              <a:ext uri="{FF2B5EF4-FFF2-40B4-BE49-F238E27FC236}">
                <a16:creationId xmlns:a16="http://schemas.microsoft.com/office/drawing/2014/main" id="{BBB068BD-D705-97C8-1295-2235DDB0AAE8}"/>
              </a:ext>
            </a:extLst>
          </p:cNvPr>
          <p:cNvSpPr/>
          <p:nvPr/>
        </p:nvSpPr>
        <p:spPr>
          <a:xfrm>
            <a:off x="1158627" y="2117080"/>
            <a:ext cx="582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无需手动标注</a:t>
            </a:r>
            <a:endParaRPr lang="en-US" sz="75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C571562C-2175-229F-3394-41CCF9E08055}"/>
              </a:ext>
            </a:extLst>
          </p:cNvPr>
          <p:cNvSpPr/>
          <p:nvPr/>
        </p:nvSpPr>
        <p:spPr>
          <a:xfrm>
            <a:off x="457200" y="2526506"/>
            <a:ext cx="4016425" cy="634752"/>
          </a:xfrm>
          <a:prstGeom prst="roundRect">
            <a:avLst>
              <a:gd name="adj" fmla="val 1400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0F402457-C76E-EDAC-1BDB-923A5A0ABD49}"/>
              </a:ext>
            </a:extLst>
          </p:cNvPr>
          <p:cNvSpPr/>
          <p:nvPr/>
        </p:nvSpPr>
        <p:spPr>
          <a:xfrm>
            <a:off x="466725" y="2526506"/>
            <a:ext cx="0" cy="63475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BDC0A907-1875-7A3B-9B41-E6259F8C5831}"/>
              </a:ext>
            </a:extLst>
          </p:cNvPr>
          <p:cNvSpPr/>
          <p:nvPr/>
        </p:nvSpPr>
        <p:spPr>
          <a:xfrm>
            <a:off x="641300" y="265345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79229F9-1F5A-5194-F7B7-565E8820F81F}"/>
              </a:ext>
            </a:extLst>
          </p:cNvPr>
          <p:cNvSpPr/>
          <p:nvPr/>
        </p:nvSpPr>
        <p:spPr>
          <a:xfrm>
            <a:off x="745629" y="2729657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D2411E19-E4D4-C807-6B52-60D2BDBD8ED2}"/>
              </a:ext>
            </a:extLst>
          </p:cNvPr>
          <p:cNvSpPr/>
          <p:nvPr/>
        </p:nvSpPr>
        <p:spPr>
          <a:xfrm>
            <a:off x="1047601" y="2653457"/>
            <a:ext cx="23976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输出量化评分与问题列表</a:t>
            </a:r>
            <a:endParaRPr lang="en-US" sz="1000" dirty="0"/>
          </a:p>
        </p:txBody>
      </p:sp>
      <p:sp>
        <p:nvSpPr>
          <p:cNvPr id="72" name="Text 21">
            <a:extLst>
              <a:ext uri="{FF2B5EF4-FFF2-40B4-BE49-F238E27FC236}">
                <a16:creationId xmlns:a16="http://schemas.microsoft.com/office/drawing/2014/main" id="{5C9AC67D-D253-BD28-D3C9-C0E4CE480A72}"/>
              </a:ext>
            </a:extLst>
          </p:cNvPr>
          <p:cNvSpPr/>
          <p:nvPr/>
        </p:nvSpPr>
        <p:spPr>
          <a:xfrm>
            <a:off x="1047601" y="2872532"/>
            <a:ext cx="2397603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0–100分综合评分，问题关节按严重程度排序展示</a:t>
            </a:r>
            <a:endParaRPr lang="en-US" sz="850" dirty="0"/>
          </a:p>
        </p:txBody>
      </p:sp>
      <p:sp>
        <p:nvSpPr>
          <p:cNvPr id="73" name="Text 22">
            <a:extLst>
              <a:ext uri="{FF2B5EF4-FFF2-40B4-BE49-F238E27FC236}">
                <a16:creationId xmlns:a16="http://schemas.microsoft.com/office/drawing/2014/main" id="{4E7DFDBC-4060-23C5-E8F1-4885455A847A}"/>
              </a:ext>
            </a:extLst>
          </p:cNvPr>
          <p:cNvSpPr/>
          <p:nvPr/>
        </p:nvSpPr>
        <p:spPr>
          <a:xfrm>
            <a:off x="457200" y="3275558"/>
            <a:ext cx="4016425" cy="634752"/>
          </a:xfrm>
          <a:prstGeom prst="roundRect">
            <a:avLst>
              <a:gd name="adj" fmla="val 1400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Shape 23">
            <a:extLst>
              <a:ext uri="{FF2B5EF4-FFF2-40B4-BE49-F238E27FC236}">
                <a16:creationId xmlns:a16="http://schemas.microsoft.com/office/drawing/2014/main" id="{777ADFEE-AF3A-4603-9A40-E793CEA0B93F}"/>
              </a:ext>
            </a:extLst>
          </p:cNvPr>
          <p:cNvSpPr/>
          <p:nvPr/>
        </p:nvSpPr>
        <p:spPr>
          <a:xfrm>
            <a:off x="466725" y="3275558"/>
            <a:ext cx="0" cy="634752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19A1C6AC-05CE-70EF-D245-BD4A987AC356}"/>
              </a:ext>
            </a:extLst>
          </p:cNvPr>
          <p:cNvSpPr/>
          <p:nvPr/>
        </p:nvSpPr>
        <p:spPr>
          <a:xfrm>
            <a:off x="641300" y="340250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A84671A1-CF12-B152-FDB3-5E1B27D54BBE}"/>
              </a:ext>
            </a:extLst>
          </p:cNvPr>
          <p:cNvSpPr/>
          <p:nvPr/>
        </p:nvSpPr>
        <p:spPr>
          <a:xfrm>
            <a:off x="745629" y="3478709"/>
            <a:ext cx="72107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CA9C533C-3A7C-2B44-3EF4-CBD311EFB529}"/>
              </a:ext>
            </a:extLst>
          </p:cNvPr>
          <p:cNvSpPr/>
          <p:nvPr/>
        </p:nvSpPr>
        <p:spPr>
          <a:xfrm>
            <a:off x="1047601" y="3402509"/>
            <a:ext cx="25563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LLM语义建议（可选）</a:t>
            </a:r>
            <a:endParaRPr lang="en-US" sz="1000" dirty="0"/>
          </a:p>
        </p:txBody>
      </p:sp>
      <p:sp>
        <p:nvSpPr>
          <p:cNvPr id="78" name="Text 27">
            <a:extLst>
              <a:ext uri="{FF2B5EF4-FFF2-40B4-BE49-F238E27FC236}">
                <a16:creationId xmlns:a16="http://schemas.microsoft.com/office/drawing/2014/main" id="{E58A6F22-392E-1B7F-076E-592FE2C512A1}"/>
              </a:ext>
            </a:extLst>
          </p:cNvPr>
          <p:cNvSpPr/>
          <p:nvPr/>
        </p:nvSpPr>
        <p:spPr>
          <a:xfrm>
            <a:off x="1047601" y="3621584"/>
            <a:ext cx="2556391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 补充握拍、击球点等细节分析</a:t>
            </a:r>
            <a:endParaRPr lang="en-US" sz="850" dirty="0"/>
          </a:p>
        </p:txBody>
      </p:sp>
      <p:sp>
        <p:nvSpPr>
          <p:cNvPr id="79" name="Text 28">
            <a:extLst>
              <a:ext uri="{FF2B5EF4-FFF2-40B4-BE49-F238E27FC236}">
                <a16:creationId xmlns:a16="http://schemas.microsoft.com/office/drawing/2014/main" id="{07CB77B1-1B6E-BFA2-7021-324CDD2F83E1}"/>
              </a:ext>
            </a:extLst>
          </p:cNvPr>
          <p:cNvSpPr/>
          <p:nvPr/>
        </p:nvSpPr>
        <p:spPr>
          <a:xfrm>
            <a:off x="4651326" y="774651"/>
            <a:ext cx="3108012" cy="3591610"/>
          </a:xfrm>
          <a:prstGeom prst="roundRect">
            <a:avLst>
              <a:gd name="adj" fmla="val 2518"/>
            </a:avLst>
          </a:prstGeom>
          <a:noFill/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0" name="Image 0" descr="/Users/I072157/科创/tennis_coach/data/docsource/评估模式.png">
            <a:extLst>
              <a:ext uri="{FF2B5EF4-FFF2-40B4-BE49-F238E27FC236}">
                <a16:creationId xmlns:a16="http://schemas.microsoft.com/office/drawing/2014/main" id="{DA9ED0EA-1673-CF78-FF88-E3FBD5900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257" y="816667"/>
            <a:ext cx="2671317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37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EFD5C-4FDB-41F4-222C-BA21B47C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>
            <a:extLst>
              <a:ext uri="{FF2B5EF4-FFF2-40B4-BE49-F238E27FC236}">
                <a16:creationId xmlns:a16="http://schemas.microsoft.com/office/drawing/2014/main" id="{C34599EB-7A74-038C-BDD3-81C45D0AEC69}"/>
              </a:ext>
            </a:extLst>
          </p:cNvPr>
          <p:cNvSpPr/>
          <p:nvPr/>
        </p:nvSpPr>
        <p:spPr>
          <a:xfrm>
            <a:off x="457200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1">
            <a:extLst>
              <a:ext uri="{FF2B5EF4-FFF2-40B4-BE49-F238E27FC236}">
                <a16:creationId xmlns:a16="http://schemas.microsoft.com/office/drawing/2014/main" id="{BF1E23A7-F778-ACC9-135B-1CB2058EA504}"/>
              </a:ext>
            </a:extLst>
          </p:cNvPr>
          <p:cNvSpPr/>
          <p:nvPr/>
        </p:nvSpPr>
        <p:spPr>
          <a:xfrm>
            <a:off x="663238" y="311199"/>
            <a:ext cx="36366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核心算法：角度计算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匹配 · 评分</a:t>
            </a:r>
            <a:endParaRPr lang="en-US" sz="1900" dirty="0"/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950F0041-C6E9-C73B-13FD-2EE1A5E9F64D}"/>
              </a:ext>
            </a:extLst>
          </p:cNvPr>
          <p:cNvSpPr/>
          <p:nvPr/>
        </p:nvSpPr>
        <p:spPr>
          <a:xfrm>
            <a:off x="457200" y="825401"/>
            <a:ext cx="3956000" cy="1361629"/>
          </a:xfrm>
          <a:prstGeom prst="roundRect">
            <a:avLst>
              <a:gd name="adj" fmla="val 746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66484C91-400C-82E4-2D4B-6D447FDF3258}"/>
              </a:ext>
            </a:extLst>
          </p:cNvPr>
          <p:cNvSpPr/>
          <p:nvPr/>
        </p:nvSpPr>
        <p:spPr>
          <a:xfrm>
            <a:off x="622250" y="990451"/>
            <a:ext cx="36984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关节角度计算</a:t>
            </a:r>
            <a:endParaRPr lang="en-US" sz="105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7A48F28A-AA1C-7C1D-2E22-314543D78FE4}"/>
              </a:ext>
            </a:extLst>
          </p:cNvPr>
          <p:cNvSpPr/>
          <p:nvPr/>
        </p:nvSpPr>
        <p:spPr>
          <a:xfrm>
            <a:off x="622250" y="1282452"/>
            <a:ext cx="3625900" cy="501551"/>
          </a:xfrm>
          <a:prstGeom prst="roundRect">
            <a:avLst>
              <a:gd name="adj" fmla="val 12661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5">
            <a:extLst>
              <a:ext uri="{FF2B5EF4-FFF2-40B4-BE49-F238E27FC236}">
                <a16:creationId xmlns:a16="http://schemas.microsoft.com/office/drawing/2014/main" id="{1BBA281F-831C-8397-9A50-2961807ED842}"/>
              </a:ext>
            </a:extLst>
          </p:cNvPr>
          <p:cNvSpPr/>
          <p:nvPr/>
        </p:nvSpPr>
        <p:spPr>
          <a:xfrm>
            <a:off x="712293" y="1406277"/>
            <a:ext cx="3445815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 θ = (u · v) / (|u| × |v|)</a:t>
            </a:r>
            <a:endParaRPr lang="en-US" sz="1000" dirty="0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1225E04F-24FC-40E9-F2F7-4C7467A28DBE}"/>
              </a:ext>
            </a:extLst>
          </p:cNvPr>
          <p:cNvSpPr/>
          <p:nvPr/>
        </p:nvSpPr>
        <p:spPr>
          <a:xfrm>
            <a:off x="622250" y="1860203"/>
            <a:ext cx="3698418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600"/>
              </a:spcBef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以关节顶点B为原点，向量点积求夹角；支持2D/3D双模式</a:t>
            </a:r>
            <a:endParaRPr lang="en-US" sz="85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649151BD-2EC9-94EE-23AF-B3DC7904F77C}"/>
              </a:ext>
            </a:extLst>
          </p:cNvPr>
          <p:cNvSpPr/>
          <p:nvPr/>
        </p:nvSpPr>
        <p:spPr>
          <a:xfrm>
            <a:off x="457200" y="2301329"/>
            <a:ext cx="3956000" cy="495151"/>
          </a:xfrm>
          <a:prstGeom prst="roundRect">
            <a:avLst>
              <a:gd name="adj" fmla="val 1282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8">
            <a:extLst>
              <a:ext uri="{FF2B5EF4-FFF2-40B4-BE49-F238E27FC236}">
                <a16:creationId xmlns:a16="http://schemas.microsoft.com/office/drawing/2014/main" id="{805A095D-1A24-3499-734E-391925442D7E}"/>
              </a:ext>
            </a:extLst>
          </p:cNvPr>
          <p:cNvSpPr/>
          <p:nvPr/>
        </p:nvSpPr>
        <p:spPr>
          <a:xfrm>
            <a:off x="466725" y="2301329"/>
            <a:ext cx="0" cy="495151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72EDEF7F-1AE9-E671-A0B0-33504A21D729}"/>
              </a:ext>
            </a:extLst>
          </p:cNvPr>
          <p:cNvSpPr/>
          <p:nvPr/>
        </p:nvSpPr>
        <p:spPr>
          <a:xfrm>
            <a:off x="603200" y="2390180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上肢组（4个）</a:t>
            </a:r>
            <a:endParaRPr lang="en-US" sz="900" dirty="0"/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43F3A024-9D75-9687-2761-1D5E622DD0C0}"/>
              </a:ext>
            </a:extLst>
          </p:cNvPr>
          <p:cNvSpPr/>
          <p:nvPr/>
        </p:nvSpPr>
        <p:spPr>
          <a:xfrm>
            <a:off x="603200" y="2564755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右/左肘角、右/左肩角</a:t>
            </a:r>
            <a:endParaRPr lang="en-US" sz="800" dirty="0"/>
          </a:p>
        </p:txBody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83E8DDB8-F59E-3738-9818-1020AF2C315B}"/>
              </a:ext>
            </a:extLst>
          </p:cNvPr>
          <p:cNvSpPr/>
          <p:nvPr/>
        </p:nvSpPr>
        <p:spPr>
          <a:xfrm>
            <a:off x="457200" y="2872680"/>
            <a:ext cx="3956000" cy="495151"/>
          </a:xfrm>
          <a:prstGeom prst="roundRect">
            <a:avLst>
              <a:gd name="adj" fmla="val 1282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Shape 12">
            <a:extLst>
              <a:ext uri="{FF2B5EF4-FFF2-40B4-BE49-F238E27FC236}">
                <a16:creationId xmlns:a16="http://schemas.microsoft.com/office/drawing/2014/main" id="{8D27E223-1409-F2FE-DCB4-88FE1CB15259}"/>
              </a:ext>
            </a:extLst>
          </p:cNvPr>
          <p:cNvSpPr/>
          <p:nvPr/>
        </p:nvSpPr>
        <p:spPr>
          <a:xfrm>
            <a:off x="466725" y="2872680"/>
            <a:ext cx="0" cy="495151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2" name="Text 13">
            <a:extLst>
              <a:ext uri="{FF2B5EF4-FFF2-40B4-BE49-F238E27FC236}">
                <a16:creationId xmlns:a16="http://schemas.microsoft.com/office/drawing/2014/main" id="{B7903002-F9D4-1995-0A42-8638A4B61853}"/>
              </a:ext>
            </a:extLst>
          </p:cNvPr>
          <p:cNvSpPr/>
          <p:nvPr/>
        </p:nvSpPr>
        <p:spPr>
          <a:xfrm>
            <a:off x="603200" y="2961531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下肢组（2个）</a:t>
            </a:r>
            <a:endParaRPr lang="en-US" sz="900" dirty="0"/>
          </a:p>
        </p:txBody>
      </p:sp>
      <p:sp>
        <p:nvSpPr>
          <p:cNvPr id="83" name="Text 14">
            <a:extLst>
              <a:ext uri="{FF2B5EF4-FFF2-40B4-BE49-F238E27FC236}">
                <a16:creationId xmlns:a16="http://schemas.microsoft.com/office/drawing/2014/main" id="{47E1EA6C-CC66-97E2-FD77-B14F37E68067}"/>
              </a:ext>
            </a:extLst>
          </p:cNvPr>
          <p:cNvSpPr/>
          <p:nvPr/>
        </p:nvSpPr>
        <p:spPr>
          <a:xfrm>
            <a:off x="603200" y="3136106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右/左膝角</a:t>
            </a:r>
            <a:endParaRPr lang="en-US" sz="800" dirty="0"/>
          </a:p>
        </p:txBody>
      </p:sp>
      <p:sp>
        <p:nvSpPr>
          <p:cNvPr id="84" name="Text 15">
            <a:extLst>
              <a:ext uri="{FF2B5EF4-FFF2-40B4-BE49-F238E27FC236}">
                <a16:creationId xmlns:a16="http://schemas.microsoft.com/office/drawing/2014/main" id="{16C2EF39-BB77-3490-3A3A-8FD83F0C127C}"/>
              </a:ext>
            </a:extLst>
          </p:cNvPr>
          <p:cNvSpPr/>
          <p:nvPr/>
        </p:nvSpPr>
        <p:spPr>
          <a:xfrm>
            <a:off x="457200" y="3444032"/>
            <a:ext cx="3956000" cy="495151"/>
          </a:xfrm>
          <a:prstGeom prst="roundRect">
            <a:avLst>
              <a:gd name="adj" fmla="val 12824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Shape 16">
            <a:extLst>
              <a:ext uri="{FF2B5EF4-FFF2-40B4-BE49-F238E27FC236}">
                <a16:creationId xmlns:a16="http://schemas.microsoft.com/office/drawing/2014/main" id="{8C2C5F7D-A7AA-A695-B8CE-7941CD423F7C}"/>
              </a:ext>
            </a:extLst>
          </p:cNvPr>
          <p:cNvSpPr/>
          <p:nvPr/>
        </p:nvSpPr>
        <p:spPr>
          <a:xfrm>
            <a:off x="466725" y="3444032"/>
            <a:ext cx="0" cy="495151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D458D604-F303-92CA-FFA0-7EABE1373ED7}"/>
              </a:ext>
            </a:extLst>
          </p:cNvPr>
          <p:cNvSpPr/>
          <p:nvPr/>
        </p:nvSpPr>
        <p:spPr>
          <a:xfrm>
            <a:off x="603200" y="3532882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躯干组（1个）</a:t>
            </a:r>
            <a:endParaRPr lang="en-US" sz="900" dirty="0"/>
          </a:p>
        </p:txBody>
      </p:sp>
      <p:sp>
        <p:nvSpPr>
          <p:cNvPr id="87" name="Text 18">
            <a:extLst>
              <a:ext uri="{FF2B5EF4-FFF2-40B4-BE49-F238E27FC236}">
                <a16:creationId xmlns:a16="http://schemas.microsoft.com/office/drawing/2014/main" id="{1F9D2A90-85B6-3667-2B14-C243BEB1047D}"/>
              </a:ext>
            </a:extLst>
          </p:cNvPr>
          <p:cNvSpPr/>
          <p:nvPr/>
        </p:nvSpPr>
        <p:spPr>
          <a:xfrm>
            <a:off x="603200" y="3707457"/>
            <a:ext cx="37567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躯干倾角</a:t>
            </a:r>
            <a:endParaRPr lang="en-US" sz="800" dirty="0"/>
          </a:p>
        </p:txBody>
      </p:sp>
      <p:sp>
        <p:nvSpPr>
          <p:cNvPr id="88" name="Text 19">
            <a:extLst>
              <a:ext uri="{FF2B5EF4-FFF2-40B4-BE49-F238E27FC236}">
                <a16:creationId xmlns:a16="http://schemas.microsoft.com/office/drawing/2014/main" id="{08169505-A59D-82BC-D9B3-D4C14E51D5E2}"/>
              </a:ext>
            </a:extLst>
          </p:cNvPr>
          <p:cNvSpPr/>
          <p:nvPr/>
        </p:nvSpPr>
        <p:spPr>
          <a:xfrm>
            <a:off x="4565600" y="825401"/>
            <a:ext cx="12650" cy="408949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Text 20">
            <a:extLst>
              <a:ext uri="{FF2B5EF4-FFF2-40B4-BE49-F238E27FC236}">
                <a16:creationId xmlns:a16="http://schemas.microsoft.com/office/drawing/2014/main" id="{27D88263-0481-99B1-072F-80A9C6BE7DA3}"/>
              </a:ext>
            </a:extLst>
          </p:cNvPr>
          <p:cNvSpPr/>
          <p:nvPr/>
        </p:nvSpPr>
        <p:spPr>
          <a:xfrm>
            <a:off x="4730651" y="825401"/>
            <a:ext cx="3956149" cy="1701254"/>
          </a:xfrm>
          <a:prstGeom prst="roundRect">
            <a:avLst>
              <a:gd name="adj" fmla="val 5972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21">
            <a:extLst>
              <a:ext uri="{FF2B5EF4-FFF2-40B4-BE49-F238E27FC236}">
                <a16:creationId xmlns:a16="http://schemas.microsoft.com/office/drawing/2014/main" id="{C7403BBE-9970-7EB1-2DBD-433B5BDF408D}"/>
              </a:ext>
            </a:extLst>
          </p:cNvPr>
          <p:cNvSpPr/>
          <p:nvPr/>
        </p:nvSpPr>
        <p:spPr>
          <a:xfrm>
            <a:off x="4895701" y="990451"/>
            <a:ext cx="3698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加权RMSE模板匹配</a:t>
            </a:r>
            <a:endParaRPr lang="en-US" sz="1050" dirty="0"/>
          </a:p>
        </p:txBody>
      </p:sp>
      <p:sp>
        <p:nvSpPr>
          <p:cNvPr id="91" name="Text 22">
            <a:extLst>
              <a:ext uri="{FF2B5EF4-FFF2-40B4-BE49-F238E27FC236}">
                <a16:creationId xmlns:a16="http://schemas.microsoft.com/office/drawing/2014/main" id="{9C65A42D-0BA1-0E7B-3034-BE5A9636A344}"/>
              </a:ext>
            </a:extLst>
          </p:cNvPr>
          <p:cNvSpPr/>
          <p:nvPr/>
        </p:nvSpPr>
        <p:spPr>
          <a:xfrm>
            <a:off x="4895701" y="1282452"/>
            <a:ext cx="3626048" cy="501551"/>
          </a:xfrm>
          <a:prstGeom prst="roundRect">
            <a:avLst>
              <a:gd name="adj" fmla="val 12661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2" name="Text 23">
            <a:extLst>
              <a:ext uri="{FF2B5EF4-FFF2-40B4-BE49-F238E27FC236}">
                <a16:creationId xmlns:a16="http://schemas.microsoft.com/office/drawing/2014/main" id="{416B89DC-5903-7039-B9C0-E54AB5A62438}"/>
              </a:ext>
            </a:extLst>
          </p:cNvPr>
          <p:cNvSpPr/>
          <p:nvPr/>
        </p:nvSpPr>
        <p:spPr>
          <a:xfrm>
            <a:off x="4985742" y="1406277"/>
            <a:ext cx="344596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RMSE = √( Σ wᵢ(θᵢ − θᵢ*)² / Σ wᵢ )</a:t>
            </a:r>
            <a:endParaRPr lang="en-US" sz="1000" dirty="0"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4265BE77-BA48-FFA9-8BAA-0D04AD239049}"/>
              </a:ext>
            </a:extLst>
          </p:cNvPr>
          <p:cNvSpPr/>
          <p:nvPr/>
        </p:nvSpPr>
        <p:spPr>
          <a:xfrm>
            <a:off x="4895701" y="1860203"/>
            <a:ext cx="369856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600"/>
              </a:spcBef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遍历所有模板，选RMSE最小的动作阶段，无需手动标注</a:t>
            </a:r>
            <a:endParaRPr lang="en-US" sz="850" dirty="0"/>
          </a:p>
        </p:txBody>
      </p:sp>
      <p:sp>
        <p:nvSpPr>
          <p:cNvPr id="94" name="Text 25">
            <a:extLst>
              <a:ext uri="{FF2B5EF4-FFF2-40B4-BE49-F238E27FC236}">
                <a16:creationId xmlns:a16="http://schemas.microsoft.com/office/drawing/2014/main" id="{B90F78AF-90CB-F797-0945-3B959B4158C8}"/>
              </a:ext>
            </a:extLst>
          </p:cNvPr>
          <p:cNvSpPr/>
          <p:nvPr/>
        </p:nvSpPr>
        <p:spPr>
          <a:xfrm>
            <a:off x="4895701" y="2123480"/>
            <a:ext cx="727174" cy="238125"/>
          </a:xfrm>
          <a:prstGeom prst="roundRect">
            <a:avLst>
              <a:gd name="adj" fmla="val 2133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5" name="Text 26">
            <a:extLst>
              <a:ext uri="{FF2B5EF4-FFF2-40B4-BE49-F238E27FC236}">
                <a16:creationId xmlns:a16="http://schemas.microsoft.com/office/drawing/2014/main" id="{A869E3C5-FFA1-B5BB-1372-BEB5C89E030A}"/>
              </a:ext>
            </a:extLst>
          </p:cNvPr>
          <p:cNvSpPr/>
          <p:nvPr/>
        </p:nvSpPr>
        <p:spPr>
          <a:xfrm>
            <a:off x="5006727" y="2171105"/>
            <a:ext cx="515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肩角 w=2.5</a:t>
            </a:r>
            <a:endParaRPr lang="en-US" sz="800" dirty="0"/>
          </a:p>
        </p:txBody>
      </p:sp>
      <p:sp>
        <p:nvSpPr>
          <p:cNvPr id="96" name="Text 27">
            <a:extLst>
              <a:ext uri="{FF2B5EF4-FFF2-40B4-BE49-F238E27FC236}">
                <a16:creationId xmlns:a16="http://schemas.microsoft.com/office/drawing/2014/main" id="{7D4AD028-650D-E0F2-00BF-823F8E70A3CE}"/>
              </a:ext>
            </a:extLst>
          </p:cNvPr>
          <p:cNvSpPr/>
          <p:nvPr/>
        </p:nvSpPr>
        <p:spPr>
          <a:xfrm>
            <a:off x="5699075" y="2123480"/>
            <a:ext cx="727174" cy="238125"/>
          </a:xfrm>
          <a:prstGeom prst="roundRect">
            <a:avLst>
              <a:gd name="adj" fmla="val 2133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7" name="Text 28">
            <a:extLst>
              <a:ext uri="{FF2B5EF4-FFF2-40B4-BE49-F238E27FC236}">
                <a16:creationId xmlns:a16="http://schemas.microsoft.com/office/drawing/2014/main" id="{0210170E-A34B-A8A6-8652-018BCFB10AD8}"/>
              </a:ext>
            </a:extLst>
          </p:cNvPr>
          <p:cNvSpPr/>
          <p:nvPr/>
        </p:nvSpPr>
        <p:spPr>
          <a:xfrm>
            <a:off x="5810101" y="2171105"/>
            <a:ext cx="515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肘角 w=2.0</a:t>
            </a:r>
            <a:endParaRPr lang="en-US" sz="800" dirty="0"/>
          </a:p>
        </p:txBody>
      </p:sp>
      <p:sp>
        <p:nvSpPr>
          <p:cNvPr id="98" name="Text 29">
            <a:extLst>
              <a:ext uri="{FF2B5EF4-FFF2-40B4-BE49-F238E27FC236}">
                <a16:creationId xmlns:a16="http://schemas.microsoft.com/office/drawing/2014/main" id="{0C0C50BA-06F6-01C4-14C5-C4D41AE20FA1}"/>
              </a:ext>
            </a:extLst>
          </p:cNvPr>
          <p:cNvSpPr/>
          <p:nvPr/>
        </p:nvSpPr>
        <p:spPr>
          <a:xfrm>
            <a:off x="6502450" y="2123480"/>
            <a:ext cx="727174" cy="238125"/>
          </a:xfrm>
          <a:prstGeom prst="roundRect">
            <a:avLst>
              <a:gd name="adj" fmla="val 2133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9" name="Text 30">
            <a:extLst>
              <a:ext uri="{FF2B5EF4-FFF2-40B4-BE49-F238E27FC236}">
                <a16:creationId xmlns:a16="http://schemas.microsoft.com/office/drawing/2014/main" id="{A938C471-3239-DE5A-35B1-6A7580969661}"/>
              </a:ext>
            </a:extLst>
          </p:cNvPr>
          <p:cNvSpPr/>
          <p:nvPr/>
        </p:nvSpPr>
        <p:spPr>
          <a:xfrm>
            <a:off x="6613475" y="2171105"/>
            <a:ext cx="515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其余 w=1.0</a:t>
            </a:r>
            <a:endParaRPr lang="en-US" sz="800" dirty="0"/>
          </a:p>
        </p:txBody>
      </p:sp>
      <p:sp>
        <p:nvSpPr>
          <p:cNvPr id="100" name="Text 31">
            <a:extLst>
              <a:ext uri="{FF2B5EF4-FFF2-40B4-BE49-F238E27FC236}">
                <a16:creationId xmlns:a16="http://schemas.microsoft.com/office/drawing/2014/main" id="{2489815F-8048-3793-7A57-56330F1F9409}"/>
              </a:ext>
            </a:extLst>
          </p:cNvPr>
          <p:cNvSpPr/>
          <p:nvPr/>
        </p:nvSpPr>
        <p:spPr>
          <a:xfrm>
            <a:off x="4730651" y="2640955"/>
            <a:ext cx="3956149" cy="1615529"/>
          </a:xfrm>
          <a:prstGeom prst="roundRect">
            <a:avLst>
              <a:gd name="adj" fmla="val 628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1" name="Text 32">
            <a:extLst>
              <a:ext uri="{FF2B5EF4-FFF2-40B4-BE49-F238E27FC236}">
                <a16:creationId xmlns:a16="http://schemas.microsoft.com/office/drawing/2014/main" id="{EE8D58ED-42A5-24E6-5604-F790939097C5}"/>
              </a:ext>
            </a:extLst>
          </p:cNvPr>
          <p:cNvSpPr/>
          <p:nvPr/>
        </p:nvSpPr>
        <p:spPr>
          <a:xfrm>
            <a:off x="4895701" y="2806005"/>
            <a:ext cx="369856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非线性评分</a:t>
            </a:r>
            <a:endParaRPr lang="en-US" sz="1050" dirty="0"/>
          </a:p>
        </p:txBody>
      </p:sp>
      <p:sp>
        <p:nvSpPr>
          <p:cNvPr id="102" name="Text 33">
            <a:extLst>
              <a:ext uri="{FF2B5EF4-FFF2-40B4-BE49-F238E27FC236}">
                <a16:creationId xmlns:a16="http://schemas.microsoft.com/office/drawing/2014/main" id="{90E55458-07F7-2762-6AA5-888643DE7AAA}"/>
              </a:ext>
            </a:extLst>
          </p:cNvPr>
          <p:cNvSpPr/>
          <p:nvPr/>
        </p:nvSpPr>
        <p:spPr>
          <a:xfrm>
            <a:off x="4895701" y="3098006"/>
            <a:ext cx="3626048" cy="755452"/>
          </a:xfrm>
          <a:prstGeom prst="roundRect">
            <a:avLst>
              <a:gd name="adj" fmla="val 8406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F3822EC9-5C4F-4902-7168-AD5291BD42AD}"/>
              </a:ext>
            </a:extLst>
          </p:cNvPr>
          <p:cNvSpPr/>
          <p:nvPr/>
        </p:nvSpPr>
        <p:spPr>
          <a:xfrm>
            <a:off x="4985742" y="3221831"/>
            <a:ext cx="344596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ratio = |偏差| / 阈值</a:t>
            </a:r>
            <a:endParaRPr lang="en-US" sz="1000" dirty="0"/>
          </a:p>
        </p:txBody>
      </p:sp>
      <p:sp>
        <p:nvSpPr>
          <p:cNvPr id="104" name="Text 35">
            <a:extLst>
              <a:ext uri="{FF2B5EF4-FFF2-40B4-BE49-F238E27FC236}">
                <a16:creationId xmlns:a16="http://schemas.microsoft.com/office/drawing/2014/main" id="{9F803356-E3F9-A570-C502-2F38415FB356}"/>
              </a:ext>
            </a:extLst>
          </p:cNvPr>
          <p:cNvSpPr/>
          <p:nvPr/>
        </p:nvSpPr>
        <p:spPr>
          <a:xfrm>
            <a:off x="4985742" y="3475732"/>
            <a:ext cx="344596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000" dirty="0">
                <a:solidFill>
                  <a:srgbClr val="00D4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= 100 × (1 − Σw·min(ratio²,4) / max_penalty)</a:t>
            </a:r>
            <a:endParaRPr lang="en-US" sz="1000" dirty="0"/>
          </a:p>
        </p:txBody>
      </p:sp>
      <p:sp>
        <p:nvSpPr>
          <p:cNvPr id="105" name="Text 36">
            <a:extLst>
              <a:ext uri="{FF2B5EF4-FFF2-40B4-BE49-F238E27FC236}">
                <a16:creationId xmlns:a16="http://schemas.microsoft.com/office/drawing/2014/main" id="{1FFFBA8C-F39D-7FDD-8069-1D0E04B9C2E0}"/>
              </a:ext>
            </a:extLst>
          </p:cNvPr>
          <p:cNvSpPr/>
          <p:nvPr/>
        </p:nvSpPr>
        <p:spPr>
          <a:xfrm>
            <a:off x="4895701" y="3929658"/>
            <a:ext cx="3698569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5"/>
              </a:lnSpc>
              <a:spcBef>
                <a:spcPts val="600"/>
              </a:spcBef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偏差越大扣分越多，单角度上限4倍防止压垮总分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89713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00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57282" y="393650"/>
            <a:ext cx="22149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大模型视觉语义分析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901601"/>
            <a:ext cx="3721298" cy="1080343"/>
          </a:xfrm>
          <a:prstGeom prst="roundRect">
            <a:avLst>
              <a:gd name="adj" fmla="val 940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3751" y="1066651"/>
            <a:ext cx="704404" cy="262682"/>
          </a:xfrm>
          <a:prstGeom prst="roundRect">
            <a:avLst>
              <a:gd name="adj" fmla="val 19339"/>
            </a:avLst>
          </a:prstGeom>
          <a:solidFill>
            <a:srgbClr val="00D4FF">
              <a:alpha val="15000"/>
            </a:srgbClr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4777" y="1101477"/>
            <a:ext cx="491999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几何分析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529655" y="1101477"/>
            <a:ext cx="71955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01701" y="1066651"/>
            <a:ext cx="704404" cy="262682"/>
          </a:xfrm>
          <a:prstGeom prst="roundRect">
            <a:avLst>
              <a:gd name="adj" fmla="val 19339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12727" y="1101477"/>
            <a:ext cx="491999" cy="19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语义理解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3751" y="1430834"/>
            <a:ext cx="3459022" cy="38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几何角度能量化关节偏差，</a:t>
            </a:r>
            <a:endParaRPr lang="en-US" sz="9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但无法描述</a:t>
            </a:r>
            <a:endParaRPr lang="en-US" sz="9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握拍方式、眼神、击球点</a:t>
            </a: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等细节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58701" y="2108895"/>
            <a:ext cx="3721298" cy="909191"/>
          </a:xfrm>
          <a:prstGeom prst="roundRect">
            <a:avLst>
              <a:gd name="adj" fmla="val 11175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751" y="2273945"/>
            <a:ext cx="3459022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</a:t>
            </a:r>
            <a:r>
              <a:rPr lang="en-US" sz="9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通义千问 qwen-vl-max</a:t>
            </a: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多模态大模型</a:t>
            </a:r>
            <a:endParaRPr lang="en-US" sz="9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输入：原始图片 + 角度问题列表</a:t>
            </a:r>
            <a:endParaRPr lang="en-US" sz="950" dirty="0"/>
          </a:p>
          <a:p>
            <a:pPr marL="0" indent="0" algn="l">
              <a:lnSpc>
                <a:spcPts val="152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输出：自然语言改进建议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57700" y="901601"/>
            <a:ext cx="4127599" cy="3962549"/>
          </a:xfrm>
          <a:prstGeom prst="roundRect">
            <a:avLst>
              <a:gd name="adj" fmla="val 2564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60850" y="1104751"/>
            <a:ext cx="37957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0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建议覆盖5个维度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0850" y="1422202"/>
            <a:ext cx="3721298" cy="1479947"/>
          </a:xfrm>
          <a:prstGeom prst="roundRect">
            <a:avLst>
              <a:gd name="adj" fmla="val 5149"/>
            </a:avLst>
          </a:prstGeom>
          <a:solidFill>
            <a:srgbClr val="0A1628"/>
          </a:solidFill>
          <a:ln w="9525">
            <a:solidFill>
              <a:srgbClr val="1E3A5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7326" y="1558677"/>
            <a:ext cx="3517315" cy="24139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握拍方式（东方/西方/大陆式）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97326" y="1800076"/>
            <a:ext cx="3517315" cy="24139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击球点位置与最佳击球区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97326" y="2041475"/>
            <a:ext cx="3517315" cy="24139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击球点偏差对发力的影响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97326" y="2282875"/>
            <a:ext cx="3517315" cy="24139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眼神与头部稳定性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97326" y="2524274"/>
            <a:ext cx="3517315" cy="24139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最重要的一条改进建议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0850" y="3029099"/>
            <a:ext cx="3721298" cy="355402"/>
          </a:xfrm>
          <a:prstGeom prst="roundRect">
            <a:avLst>
              <a:gd name="adj" fmla="val 17867"/>
            </a:avLst>
          </a:prstGeom>
          <a:solidFill>
            <a:srgbClr val="0A162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670375" y="3029099"/>
            <a:ext cx="0" cy="355402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3" name="Text 21"/>
          <p:cNvSpPr/>
          <p:nvPr/>
        </p:nvSpPr>
        <p:spPr>
          <a:xfrm>
            <a:off x="4806851" y="3130600"/>
            <a:ext cx="35173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可选模块</a:t>
            </a: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，无API Key时自动跳过，不影响评分流程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60350" y="1628924"/>
            <a:ext cx="29017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0350" y="1889224"/>
            <a:ext cx="290174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成果展示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0350" y="2457450"/>
            <a:ext cx="507950" cy="25301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68590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四组实验设计与结果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0350" y="3000226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实验结果展示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0350" y="3314551"/>
            <a:ext cx="29017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总结与展望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15430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4114800" y="25717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Shape 9"/>
          <p:cNvSpPr/>
          <p:nvPr/>
        </p:nvSpPr>
        <p:spPr>
          <a:xfrm>
            <a:off x="4114800" y="3600450"/>
            <a:ext cx="5029200" cy="9144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2" name="Shape 10"/>
          <p:cNvSpPr/>
          <p:nvPr/>
        </p:nvSpPr>
        <p:spPr>
          <a:xfrm>
            <a:off x="5961888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3" name="Shape 11"/>
          <p:cNvSpPr/>
          <p:nvPr/>
        </p:nvSpPr>
        <p:spPr>
          <a:xfrm>
            <a:off x="6437376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6912864" y="162991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5961888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Shape 14"/>
          <p:cNvSpPr/>
          <p:nvPr/>
        </p:nvSpPr>
        <p:spPr>
          <a:xfrm>
            <a:off x="6437376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7" name="Shape 15"/>
          <p:cNvSpPr/>
          <p:nvPr/>
        </p:nvSpPr>
        <p:spPr>
          <a:xfrm>
            <a:off x="6912864" y="210540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5961888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Shape 17"/>
          <p:cNvSpPr/>
          <p:nvPr/>
        </p:nvSpPr>
        <p:spPr>
          <a:xfrm>
            <a:off x="6437376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60000"/>
            </a:srgbClr>
          </a:solidFill>
          <a:ln w="635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6912864" y="258089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Shape 19"/>
          <p:cNvSpPr/>
          <p:nvPr/>
        </p:nvSpPr>
        <p:spPr>
          <a:xfrm>
            <a:off x="6485382" y="2153412"/>
            <a:ext cx="288036" cy="288036"/>
          </a:xfrm>
          <a:prstGeom prst="ellipse">
            <a:avLst/>
          </a:prstGeom>
          <a:solidFill>
            <a:srgbClr val="C5E82A"/>
          </a:solidFill>
          <a:ln w="6350">
            <a:solidFill>
              <a:srgbClr val="A0C010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6583680" y="310896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9E0B">
                    <a:alpha val="8000"/>
                  </a:srgbClr>
                </a:solidFill>
              </a:rPr>
              <a:t>03</a:t>
            </a:r>
            <a:endParaRPr lang="en-US" sz="9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005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08770" y="355550"/>
            <a:ext cx="27071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四组实验设计与结果总览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538561" y="1314152"/>
            <a:ext cx="577602" cy="187226"/>
          </a:xfrm>
          <a:prstGeom prst="roundRect">
            <a:avLst>
              <a:gd name="adj" fmla="val 2713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620225" y="1336328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规范示范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90506" y="1317278"/>
            <a:ext cx="746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4661" y="1688604"/>
            <a:ext cx="1085404" cy="187226"/>
          </a:xfrm>
          <a:prstGeom prst="roundRect">
            <a:avLst>
              <a:gd name="adj" fmla="val 27133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61246" y="1710779"/>
            <a:ext cx="9322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不规范（背部视角）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90506" y="1691729"/>
            <a:ext cx="746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8561" y="2063055"/>
            <a:ext cx="577602" cy="187226"/>
          </a:xfrm>
          <a:prstGeom prst="roundRect">
            <a:avLst>
              <a:gd name="adj" fmla="val 2713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20225" y="2085231"/>
            <a:ext cx="4142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规范示范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90506" y="2066181"/>
            <a:ext cx="746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82.2分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811" y="2437507"/>
            <a:ext cx="679252" cy="187226"/>
          </a:xfrm>
          <a:prstGeom prst="roundRect">
            <a:avLst>
              <a:gd name="adj" fmla="val 27133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68458" y="2459682"/>
            <a:ext cx="5179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不规范示范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90506" y="2440632"/>
            <a:ext cx="746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8701" y="2850059"/>
            <a:ext cx="2590800" cy="663178"/>
          </a:xfrm>
          <a:prstGeom prst="roundRect">
            <a:avLst>
              <a:gd name="adj" fmla="val 1149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58701" y="2859584"/>
            <a:ext cx="25908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8" name="Text 16"/>
          <p:cNvSpPr/>
          <p:nvPr/>
        </p:nvSpPr>
        <p:spPr>
          <a:xfrm>
            <a:off x="688241" y="2995910"/>
            <a:ext cx="23317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241" y="3268861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总测试次数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76451" y="2850059"/>
            <a:ext cx="2590949" cy="663178"/>
          </a:xfrm>
          <a:prstGeom prst="roundRect">
            <a:avLst>
              <a:gd name="adj" fmla="val 1149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76451" y="2859584"/>
            <a:ext cx="2590949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3405990" y="2995910"/>
            <a:ext cx="233187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05990" y="3268861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成功次数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94350" y="2850059"/>
            <a:ext cx="2590949" cy="663178"/>
          </a:xfrm>
          <a:prstGeom prst="roundRect">
            <a:avLst>
              <a:gd name="adj" fmla="val 11490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994350" y="2859584"/>
            <a:ext cx="2590949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6123889" y="2995910"/>
            <a:ext cx="23318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3889" y="3230761"/>
            <a:ext cx="233187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成功率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08770" y="304800"/>
            <a:ext cx="1476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实验结果展示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892076"/>
            <a:ext cx="730151" cy="257175"/>
          </a:xfrm>
          <a:prstGeom prst="roundRect">
            <a:avLst>
              <a:gd name="adj" fmla="val 19753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5176" y="939701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规范动作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90352" y="825401"/>
            <a:ext cx="76054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8701" y="1342727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关键点完整检出 · 角度全部达标 · LLM正向评价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8200" y="892076"/>
            <a:ext cx="844451" cy="257175"/>
          </a:xfrm>
          <a:prstGeom prst="roundRect">
            <a:avLst>
              <a:gd name="adj" fmla="val 19753"/>
            </a:avLst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4675" y="939701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不规范动作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94152" y="825401"/>
            <a:ext cx="6020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8200" y="1342727"/>
            <a:ext cx="40158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右肘角36.9°（标准122.5°）· LLM给出针对性建议</a:t>
            </a:r>
            <a:endParaRPr lang="en-US" sz="900" dirty="0"/>
          </a:p>
        </p:txBody>
      </p:sp>
      <p:pic>
        <p:nvPicPr>
          <p:cNvPr id="12" name="Image 0" descr="/Users/I072157/科创/tennis_coach/data/docsource/正确姿势关键点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1438451" cy="2560320"/>
          </a:xfrm>
          <a:prstGeom prst="rect">
            <a:avLst/>
          </a:prstGeom>
        </p:spPr>
      </p:pic>
      <p:pic>
        <p:nvPicPr>
          <p:cNvPr id="13" name="Image 1" descr="/Users/I072157/科创/tennis_coach/data/docsource/错误姿势关键点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931" y="1280160"/>
            <a:ext cx="1964980" cy="2011680"/>
          </a:xfrm>
          <a:prstGeom prst="rect">
            <a:avLst/>
          </a:prstGeom>
        </p:spPr>
      </p:pic>
      <p:pic>
        <p:nvPicPr>
          <p:cNvPr id="14" name="Image 2" descr="/Users/I072157/科创/tennis_coach/data/docsource/正确姿势大语言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1280160"/>
            <a:ext cx="2277511" cy="1371600"/>
          </a:xfrm>
          <a:prstGeom prst="rect">
            <a:avLst/>
          </a:prstGeom>
        </p:spPr>
      </p:pic>
      <p:pic>
        <p:nvPicPr>
          <p:cNvPr id="15" name="Image 3" descr="/Users/I072157/科创/tennis_coach/data/docsource/错误姿势大语言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88920"/>
            <a:ext cx="2123825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49300"/>
            <a:ext cx="50750" cy="253901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01328" y="304800"/>
            <a:ext cx="12305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58701" y="825401"/>
            <a:ext cx="3937099" cy="587276"/>
          </a:xfrm>
          <a:prstGeom prst="roundRect">
            <a:avLst>
              <a:gd name="adj" fmla="val 1513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8226" y="825401"/>
            <a:ext cx="0" cy="58727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730151" y="939701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4951" y="939701"/>
            <a:ext cx="27825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双引擎架构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4951" y="1145977"/>
            <a:ext cx="27825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百度API + MediaPipe，在线/离线切换，稳定检测17个关键点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701" y="1514177"/>
            <a:ext cx="3937099" cy="587276"/>
          </a:xfrm>
          <a:prstGeom prst="roundRect">
            <a:avLst>
              <a:gd name="adj" fmla="val 1513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8226" y="1514177"/>
            <a:ext cx="0" cy="58727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30151" y="1628477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4951" y="1628477"/>
            <a:ext cx="22933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量化评分体系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4951" y="1834753"/>
            <a:ext cx="22933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加权RMSE匹配 + 平方惩罚，80次测试成功率95%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2202954"/>
            <a:ext cx="3937099" cy="587276"/>
          </a:xfrm>
          <a:prstGeom prst="roundRect">
            <a:avLst>
              <a:gd name="adj" fmla="val 15138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8226" y="2202954"/>
            <a:ext cx="0" cy="587276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730151" y="2317254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4951" y="2317254"/>
            <a:ext cx="24944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几何 + 语义融合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4951" y="2523530"/>
            <a:ext cx="24944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角度偏差量化 × LLM自然语言建议，互补覆盖技术细节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8701" y="2891730"/>
            <a:ext cx="3937099" cy="1058466"/>
          </a:xfrm>
          <a:prstGeom prst="roundRect">
            <a:avLst>
              <a:gd name="adj" fmla="val 8399"/>
            </a:avLst>
          </a:prstGeom>
          <a:solidFill>
            <a:srgbClr val="16243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8226" y="2891730"/>
            <a:ext cx="0" cy="105846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730151" y="3006030"/>
            <a:ext cx="36855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当前局限 → 未来方向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0151" y="3256806"/>
            <a:ext cx="3685514" cy="19303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模板代表性不足 → 扩充样本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0151" y="3449836"/>
            <a:ext cx="3685514" cy="19303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阈值依赖经验 → 数据驱动标定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0151" y="3642866"/>
            <a:ext cx="3685514" cy="19303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marL="0" indent="0" algn="l">
              <a:lnSpc>
                <a:spcPts val="152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视频处理速度有限 → 轻量化 / 移动端</a:t>
            </a:r>
            <a:endParaRPr lang="en-US" sz="800" dirty="0"/>
          </a:p>
        </p:txBody>
      </p:sp>
      <p:pic>
        <p:nvPicPr>
          <p:cNvPr id="25" name="Image 0" descr="/Users/I072157/科创/tennis_coach/data/docsource/正确视频结果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424179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1050" y="920800"/>
            <a:ext cx="3301901" cy="3301901"/>
          </a:xfrm>
          <a:prstGeom prst="roundRect">
            <a:avLst>
              <a:gd name="adj" fmla="val 27693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2050" y="1301800"/>
            <a:ext cx="2539901" cy="2539901"/>
          </a:xfrm>
          <a:prstGeom prst="roundRect">
            <a:avLst>
              <a:gd name="adj" fmla="val 3600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83050" y="1682800"/>
            <a:ext cx="1777901" cy="1777901"/>
          </a:xfrm>
          <a:prstGeom prst="roundRect">
            <a:avLst>
              <a:gd name="adj" fmla="val 51431"/>
            </a:avLst>
          </a:prstGeom>
          <a:noFill/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0" y="1400324"/>
            <a:ext cx="1143000" cy="1143000"/>
          </a:xfrm>
          <a:prstGeom prst="roundRect">
            <a:avLst>
              <a:gd name="adj" fmla="val 80000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57688" y="1690836"/>
            <a:ext cx="437198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🎾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911650" y="2797225"/>
            <a:ext cx="13469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317950" y="3365450"/>
            <a:ext cx="507950" cy="25301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83248" y="3543151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欢迎提问与交流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714</Words>
  <Application>Microsoft Macintosh PowerPoint</Application>
  <PresentationFormat>On-screen Show (16:9)</PresentationFormat>
  <Paragraphs>271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基于计算机视觉与大语言模型的网球动作智能教练系统</dc:title>
  <dc:subject>PptxGenJS Presentation</dc:subject>
  <dc:creator>PptxGenJS</dc:creator>
  <cp:lastModifiedBy>Zhou, Rita</cp:lastModifiedBy>
  <cp:revision>23</cp:revision>
  <dcterms:created xsi:type="dcterms:W3CDTF">2026-07-27T14:52:12Z</dcterms:created>
  <dcterms:modified xsi:type="dcterms:W3CDTF">2026-07-27T16:45:58Z</dcterms:modified>
</cp:coreProperties>
</file>