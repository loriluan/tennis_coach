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779240"/>
            <a:ext cx="3782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科技创新课题答辩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01" y="2080766"/>
            <a:ext cx="3782669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基于计算机视觉与大语言模型的网球动作智能教练系统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01" y="3015109"/>
            <a:ext cx="381000" cy="25301"/>
          </a:xfrm>
          <a:prstGeom prst="roundRect">
            <a:avLst>
              <a:gd name="adj" fmla="val 100391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3192810"/>
            <a:ext cx="3782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Action Intelligent Coaching System · CV × LLM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59401" y="1746200"/>
            <a:ext cx="1650950" cy="1650950"/>
          </a:xfrm>
          <a:prstGeom prst="roundRect">
            <a:avLst>
              <a:gd name="adj" fmla="val 55386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901" y="1936700"/>
            <a:ext cx="1269950" cy="1269950"/>
          </a:xfrm>
          <a:prstGeom prst="roundRect">
            <a:avLst>
              <a:gd name="adj" fmla="val 72003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14951" y="2101751"/>
            <a:ext cx="939701" cy="939701"/>
          </a:xfrm>
          <a:prstGeom prst="roundRect">
            <a:avLst>
              <a:gd name="adj" fmla="val 97308"/>
            </a:avLst>
          </a:prstGeom>
          <a:solidFill>
            <a:srgbClr val="1E3A5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80014" y="2304901"/>
            <a:ext cx="4177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92013"/>
            <a:ext cx="50750" cy="2793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355550"/>
            <a:ext cx="5181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961876"/>
            <a:ext cx="2590800" cy="444401"/>
          </a:xfrm>
          <a:prstGeom prst="roundRect">
            <a:avLst>
              <a:gd name="adj" fmla="val 17147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0626" y="10697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5927" y="106025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0727" y="1060252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8701" y="1482477"/>
            <a:ext cx="2590800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641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7902" y="15586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8701" y="1939677"/>
            <a:ext cx="2590800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2098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7902" y="2015877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目标与意义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76451" y="961876"/>
            <a:ext cx="2590949" cy="444401"/>
          </a:xfrm>
          <a:prstGeom prst="roundRect">
            <a:avLst>
              <a:gd name="adj" fmla="val 17147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38376" y="10697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63677" y="106025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8477" y="1060252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76451" y="14824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3402" y="1641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55653" y="1558677"/>
            <a:ext cx="101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技术思路总览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76451" y="19396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03402" y="2098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55653" y="2015877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训练方式与模板库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76451" y="23968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03402" y="25556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55653" y="2473077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76451" y="28540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3402" y="30128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5653" y="29302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评估模式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76451" y="33112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03402" y="34700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55653" y="33874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76451" y="37684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03402" y="3927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55653" y="3844677"/>
            <a:ext cx="1178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大模型语义分析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76451" y="42256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03402" y="4384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555653" y="43018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94350" y="961876"/>
            <a:ext cx="2590949" cy="444401"/>
          </a:xfrm>
          <a:prstGeom prst="roundRect">
            <a:avLst>
              <a:gd name="adj" fmla="val 17147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56275" y="10697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81576" y="106025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86376" y="1060252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94350" y="14824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21301" y="1641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73552" y="1558677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四组实验设计与结果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94350" y="19396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21301" y="2098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73552" y="2015877"/>
            <a:ext cx="101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实验结果展示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94350" y="23968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21301" y="25556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73552" y="2473077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历史记录与进步追踪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94350" y="28540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21301" y="30128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73552" y="2930277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786086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2046387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2614613"/>
            <a:ext cx="507950" cy="25301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84306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研究背景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315738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目标与意义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D4FF">
                    <a:alpha val="8000"/>
                  </a:srgbClr>
                </a:solidFill>
              </a:rPr>
              <a:t>01</a:t>
            </a:r>
            <a:endParaRPr lang="en-US" sz="9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746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330101"/>
            <a:ext cx="984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901601"/>
            <a:ext cx="2573834" cy="3962549"/>
          </a:xfrm>
          <a:prstGeom prst="roundRect">
            <a:avLst>
              <a:gd name="adj" fmla="val 4934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8701" y="911126"/>
            <a:ext cx="2573834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174552"/>
            <a:ext cx="22108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1701552"/>
            <a:ext cx="22108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训练痛点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1851" y="2101602"/>
            <a:ext cx="2167533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无教练难发现偏差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错误强化成记忆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回放缺乏量化依据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纠正成本随时增加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4203948"/>
            <a:ext cx="2210883" cy="4063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algn="l" indent="0" marL="0">
              <a:spcBef>
                <a:spcPts val="3991"/>
              </a:spcBef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需客观反馈机制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84934" y="901601"/>
            <a:ext cx="2573982" cy="3962549"/>
          </a:xfrm>
          <a:prstGeom prst="roundRect">
            <a:avLst>
              <a:gd name="adj" fmla="val 4934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4934" y="911126"/>
            <a:ext cx="257398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8085" y="1174552"/>
            <a:ext cx="2211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88085" y="1701552"/>
            <a:ext cx="22110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资源困境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8085" y="2101602"/>
            <a:ext cx="2167682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教练稀缺费用高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爱好者难获持续指导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缺客观量化评估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低成本工具极稀缺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88085" y="4203948"/>
            <a:ext cx="2211035" cy="4063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algn="l" indent="0" marL="0">
              <a:spcBef>
                <a:spcPts val="3991"/>
              </a:spcBef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需低成本辅助方案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11317" y="901601"/>
            <a:ext cx="2573982" cy="3962549"/>
          </a:xfrm>
          <a:prstGeom prst="roundRect">
            <a:avLst>
              <a:gd name="adj" fmla="val 4934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11317" y="911126"/>
            <a:ext cx="257398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4467" y="1174552"/>
            <a:ext cx="2211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4467" y="1701552"/>
            <a:ext cx="22110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技术空白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4467" y="2101602"/>
            <a:ext cx="2167682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网球专项系统少见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现有研究停留验证层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单引擎需手动标注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几何与语义未融合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4467" y="4203948"/>
            <a:ext cx="2211035" cy="4063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algn="l" indent="0" marL="0">
              <a:spcBef>
                <a:spcPts val="3991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需实用落地系统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476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203150"/>
            <a:ext cx="12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目标与意义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673001"/>
            <a:ext cx="3829199" cy="1028998"/>
          </a:xfrm>
          <a:prstGeom prst="roundRect">
            <a:avLst>
              <a:gd name="adj" fmla="val 8639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7492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635" y="825401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7402" y="749201"/>
            <a:ext cx="32064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自动检测 · 客观量化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402" y="1047601"/>
            <a:ext cx="320641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17关键点 + 7关节角度，输出0–100非线性评分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8701" y="1765399"/>
            <a:ext cx="3829199" cy="1040904"/>
          </a:xfrm>
          <a:prstGeom prst="roundRect">
            <a:avLst>
              <a:gd name="adj" fmla="val 8541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51" y="18415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5635" y="1917799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7402" y="1841599"/>
            <a:ext cx="31991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双模输入 · 灵活适配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402" y="2140000"/>
            <a:ext cx="319913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图片单帧评估；视频逐帧提取多帧均值聚合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7402" y="2450902"/>
            <a:ext cx="806351" cy="279202"/>
          </a:xfrm>
          <a:prstGeom prst="roundRect">
            <a:avLst>
              <a:gd name="adj" fmla="val 1819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5777" y="2485727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图片模式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9952" y="2450902"/>
            <a:ext cx="806351" cy="279202"/>
          </a:xfrm>
          <a:prstGeom prst="roundRect">
            <a:avLst>
              <a:gd name="adj" fmla="val 1819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98328" y="2485727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视频模式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8701" y="2869704"/>
            <a:ext cx="3829199" cy="1028998"/>
          </a:xfrm>
          <a:prstGeom prst="roundRect">
            <a:avLst>
              <a:gd name="adj" fmla="val 8639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651" y="294590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5635" y="3022104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7402" y="2945904"/>
            <a:ext cx="30215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智能建议 · 有的放矢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7402" y="3244304"/>
            <a:ext cx="302152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LLM针对问题关节生成自然语言改进建议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8701" y="3962102"/>
            <a:ext cx="3829199" cy="1028998"/>
          </a:xfrm>
          <a:prstGeom prst="roundRect">
            <a:avLst>
              <a:gd name="adj" fmla="val 8639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651" y="4038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5635" y="4114502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7402" y="4038302"/>
            <a:ext cx="28624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历史追踪 · 可视进步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7402" y="4336703"/>
            <a:ext cx="2862429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存储每次评估，进步曲线追踪训练成效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65600" y="673001"/>
            <a:ext cx="12650" cy="431809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5952" y="673001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82902" y="7492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59102" y="825401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14652" y="749201"/>
            <a:ext cx="26939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对爱好者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14652" y="1047601"/>
            <a:ext cx="269392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随时上传，无需教练，客观量化反馈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5952" y="1768376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82902" y="184457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59102" y="1920776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14652" y="1844576"/>
            <a:ext cx="2525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对教练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14652" y="2142976"/>
            <a:ext cx="252557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构建个性化模板库，减少重复讲解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5952" y="2863751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82902" y="29399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59102" y="3016151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14652" y="2939951"/>
            <a:ext cx="27973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研究价值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14652" y="3238351"/>
            <a:ext cx="279730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× LLM × 运动训练低成本落地方案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55952" y="3959126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82902" y="403532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59102" y="4111526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14652" y="4035326"/>
            <a:ext cx="27223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14652" y="4333726"/>
            <a:ext cx="27223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 + 加权RMSE + 几何语义融合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157436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1417737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1985963"/>
            <a:ext cx="507950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21441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技术思路总览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252873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双引擎关键点检测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50" y="284306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关节角度计算模型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350" y="315738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加权RMSE匹配与评分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350" y="347171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大模型视觉语义分析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350" y="378603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系统模块与调用链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0B981">
                    <a:alpha val="8000"/>
                  </a:srgbClr>
                </a:solidFill>
              </a:rPr>
              <a:t>02</a:t>
            </a:r>
            <a:endParaRPr lang="en-US" sz="9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1476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技术思路总览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825401"/>
            <a:ext cx="1274118" cy="342900"/>
          </a:xfrm>
          <a:prstGeom prst="roundRect">
            <a:avLst>
              <a:gd name="adj" fmla="val 74074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873026"/>
            <a:ext cx="9176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训练路径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284089"/>
            <a:ext cx="148337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009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009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009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图片/视频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3853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3720" y="1269802"/>
            <a:ext cx="1483519" cy="1269950"/>
          </a:xfrm>
          <a:prstGeom prst="roundRect">
            <a:avLst>
              <a:gd name="adj" fmla="val 800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143720" y="1284089"/>
            <a:ext cx="1483519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6609" y="1501527"/>
            <a:ext cx="13577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06609" y="1911102"/>
            <a:ext cx="1357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06609" y="2177802"/>
            <a:ext cx="1357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百度/MediaPipe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520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0389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30389" y="1284089"/>
            <a:ext cx="148337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328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9328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角度计算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328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7个关节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1172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16910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16910" y="1284089"/>
            <a:ext cx="1483370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980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🎞️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980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帧合并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980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均值/最高分帧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824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03430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203430" y="1284089"/>
            <a:ext cx="1483370" cy="0"/>
          </a:xfrm>
          <a:prstGeom prst="line">
            <a:avLst/>
          </a:prstGeom>
          <a:noFill/>
          <a:ln w="28575">
            <a:solidFill>
              <a:srgbClr val="E879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632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6632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保存模板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632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加权均值合并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2844552"/>
            <a:ext cx="1274118" cy="342900"/>
          </a:xfrm>
          <a:prstGeom prst="roundRect">
            <a:avLst>
              <a:gd name="adj" fmla="val 74074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4426" y="2892177"/>
            <a:ext cx="9176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 评估路径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393728"/>
            <a:ext cx="1202234" cy="1269950"/>
          </a:xfrm>
          <a:prstGeom prst="roundRect">
            <a:avLst>
              <a:gd name="adj" fmla="val 8451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57200" y="3408015"/>
            <a:ext cx="1202234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2902" y="3625453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22902" y="4035028"/>
            <a:ext cx="107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2902" y="4301728"/>
            <a:ext cx="10708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图片/视频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657402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862584" y="3288953"/>
            <a:ext cx="1202382" cy="1479500"/>
          </a:xfrm>
          <a:prstGeom prst="roundRect">
            <a:avLst>
              <a:gd name="adj" fmla="val 845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862584" y="3303240"/>
            <a:ext cx="1202382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8284" y="3520678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928284" y="3930253"/>
            <a:ext cx="1070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928284" y="4196953"/>
            <a:ext cx="10709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百度/MediaPipe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062935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268117" y="3393728"/>
            <a:ext cx="1202234" cy="1269950"/>
          </a:xfrm>
          <a:prstGeom prst="roundRect">
            <a:avLst>
              <a:gd name="adj" fmla="val 8451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268117" y="3408015"/>
            <a:ext cx="1202234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3818" y="3625453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3333818" y="4035028"/>
            <a:ext cx="107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角度+匹配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333818" y="4301728"/>
            <a:ext cx="10708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468319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73501" y="3393728"/>
            <a:ext cx="1202382" cy="1269950"/>
          </a:xfrm>
          <a:prstGeom prst="roundRect">
            <a:avLst>
              <a:gd name="adj" fmla="val 845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673501" y="3408015"/>
            <a:ext cx="1202382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9201" y="3625453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4739201" y="4035028"/>
            <a:ext cx="1070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739201" y="4301728"/>
            <a:ext cx="10709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0–100分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873852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079034" y="3393728"/>
            <a:ext cx="1202234" cy="1269950"/>
          </a:xfrm>
          <a:prstGeom prst="roundRect">
            <a:avLst>
              <a:gd name="adj" fmla="val 8451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79034" y="3408015"/>
            <a:ext cx="1202234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4735" y="3625453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6144735" y="4035028"/>
            <a:ext cx="107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LLM分析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144735" y="4301728"/>
            <a:ext cx="10708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语义建议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79236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484418" y="3393728"/>
            <a:ext cx="1202382" cy="1269950"/>
          </a:xfrm>
          <a:prstGeom prst="roundRect">
            <a:avLst>
              <a:gd name="adj" fmla="val 8450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7484418" y="3408015"/>
            <a:ext cx="1202382" cy="0"/>
          </a:xfrm>
          <a:prstGeom prst="line">
            <a:avLst/>
          </a:prstGeom>
          <a:noFill/>
          <a:ln w="28575">
            <a:solidFill>
              <a:srgbClr val="FB92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50118" y="3625453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7550118" y="4035028"/>
            <a:ext cx="1070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输出报告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7550118" y="4301728"/>
            <a:ext cx="10709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评分+建议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19687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训练方式与模板库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774650"/>
            <a:ext cx="880765" cy="1400770"/>
          </a:xfrm>
          <a:prstGeom prst="roundRect">
            <a:avLst>
              <a:gd name="adj" fmla="val 10093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784175"/>
            <a:ext cx="880765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882551"/>
            <a:ext cx="69131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图片训练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8701" y="1393627"/>
            <a:ext cx="69131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单张 → 关键点 → 模板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26815" y="774650"/>
            <a:ext cx="880914" cy="1400770"/>
          </a:xfrm>
          <a:prstGeom prst="roundRect">
            <a:avLst>
              <a:gd name="adj" fmla="val 10092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426815" y="784175"/>
            <a:ext cx="88091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8316" y="882551"/>
            <a:ext cx="69147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视频训练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28316" y="1393627"/>
            <a:ext cx="69147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逐帧 → 均值 → 模板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6579" y="774650"/>
            <a:ext cx="880914" cy="1400770"/>
          </a:xfrm>
          <a:prstGeom prst="roundRect">
            <a:avLst>
              <a:gd name="adj" fmla="val 10092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396579" y="784175"/>
            <a:ext cx="88091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8080" y="882551"/>
            <a:ext cx="69147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批量训练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8080" y="1393627"/>
            <a:ext cx="69147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一视频 → 多阶段模板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276921"/>
            <a:ext cx="2820293" cy="1298674"/>
          </a:xfrm>
          <a:prstGeom prst="roundRect">
            <a:avLst>
              <a:gd name="adj" fmla="val 6845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" y="2276921"/>
            <a:ext cx="0" cy="129867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200" y="2365772"/>
            <a:ext cx="25982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 方式一：</a:t>
            </a:r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百度人体分析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200" y="2651522"/>
            <a:ext cx="259828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"baidu"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 aip.baidubce.com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200" y="3207544"/>
            <a:ext cx="1786235" cy="279202"/>
          </a:xfrm>
          <a:prstGeom prst="roundRect">
            <a:avLst>
              <a:gd name="adj" fmla="val 1819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8925" y="3242370"/>
            <a:ext cx="16470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 API KEY · 输出 2D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51796"/>
            <a:ext cx="2820293" cy="1308199"/>
          </a:xfrm>
          <a:prstGeom prst="roundRect">
            <a:avLst>
              <a:gd name="adj" fmla="val 6796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6725" y="3651796"/>
            <a:ext cx="0" cy="1308199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200" y="3740646"/>
            <a:ext cx="25982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方式二：</a:t>
            </a:r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200" y="4035921"/>
            <a:ext cx="259828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"mediapipe"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pose_landmarker_heavy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200" y="4591943"/>
            <a:ext cx="1458516" cy="279202"/>
          </a:xfrm>
          <a:prstGeom prst="roundRect">
            <a:avLst>
              <a:gd name="adj" fmla="val 1819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8925" y="4626769"/>
            <a:ext cx="13128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无需网络 · 输出 3D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893" y="774650"/>
            <a:ext cx="5256907" cy="4185345"/>
          </a:xfrm>
          <a:prstGeom prst="roundRect">
            <a:avLst>
              <a:gd name="adj" fmla="val 2428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0" descr="/Users/I072157/科创/tennis_coach/data/docsource/第一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77240"/>
            <a:ext cx="2279335" cy="3474720"/>
          </a:xfrm>
          <a:prstGeom prst="rect">
            <a:avLst/>
          </a:prstGeom>
        </p:spPr>
      </p:pic>
      <p:pic>
        <p:nvPicPr>
          <p:cNvPr id="30" name="Image 1" descr="/Users/I072157/科创/tennis_coach/data/docsource/第四页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295" y="777240"/>
            <a:ext cx="231302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2461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双引擎关键点检测架构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799951"/>
            <a:ext cx="2486620" cy="3454747"/>
          </a:xfrm>
          <a:prstGeom prst="roundRect">
            <a:avLst>
              <a:gd name="adj" fmla="val 4086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77652"/>
            <a:ext cx="2131219" cy="393502"/>
          </a:xfrm>
          <a:prstGeom prst="roundRect">
            <a:avLst>
              <a:gd name="adj" fmla="val 16137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050578"/>
            <a:ext cx="18954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 百度人体分析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1498104"/>
            <a:ext cx="2131219" cy="1422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云端推理，鲁棒性强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复杂背景表现更优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17 关键点 (x, y)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需网络连接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047851"/>
            <a:ext cx="935534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726" y="3095476"/>
            <a:ext cx="701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 · 2D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70771" y="799951"/>
            <a:ext cx="3002607" cy="3454747"/>
          </a:xfrm>
          <a:prstGeom prst="roundRect">
            <a:avLst>
              <a:gd name="adj" fmla="val 3384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00329" y="799951"/>
            <a:ext cx="2486471" cy="3454747"/>
          </a:xfrm>
          <a:prstGeom prst="roundRect">
            <a:avLst>
              <a:gd name="adj" fmla="val 4086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78029" y="977652"/>
            <a:ext cx="2131070" cy="403027"/>
          </a:xfrm>
          <a:prstGeom prst="roundRect">
            <a:avLst>
              <a:gd name="adj" fmla="val 15756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14505" y="1050578"/>
            <a:ext cx="18952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MediaPipe Pose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8029" y="1507629"/>
            <a:ext cx="2131070" cy="1422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完全离线运行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3D 坐标 (x,y,z)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33点映射统一17点格式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合成 neck/pelvis 虚拟点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8029" y="3057376"/>
            <a:ext cx="935534" cy="323850"/>
          </a:xfrm>
          <a:prstGeom prst="roundRect">
            <a:avLst>
              <a:gd name="adj" fmla="val 15686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01854" y="3105001"/>
            <a:ext cx="701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 · 3D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56199"/>
            <a:ext cx="8229600" cy="406301"/>
          </a:xfrm>
          <a:prstGeom prst="roundRect">
            <a:avLst>
              <a:gd name="adj" fmla="val 18755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" y="4356199"/>
            <a:ext cx="0" cy="406301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951" y="4445050"/>
            <a:ext cx="8012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两套方案输出</a:t>
            </a:r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统一格式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，角度计算与评分模块无缝复用</a:t>
            </a:r>
            <a:endParaRPr lang="en-US" sz="1300" dirty="0"/>
          </a:p>
        </p:txBody>
      </p:sp>
      <p:pic>
        <p:nvPicPr>
          <p:cNvPr id="20" name="Image 0" descr="/Users/I072157/科创/tennis_coach/data/docsource/第三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822960"/>
            <a:ext cx="224481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评估模式：完整流程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774650"/>
            <a:ext cx="4016425" cy="770632"/>
          </a:xfrm>
          <a:prstGeom prst="roundRect">
            <a:avLst>
              <a:gd name="adj" fmla="val 11536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66725" y="774650"/>
            <a:ext cx="0" cy="7706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1300" y="9016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8485" y="965002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601" y="901601"/>
            <a:ext cx="26939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上传图片或视频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7601" y="1187351"/>
            <a:ext cx="26939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选学员、角度、动作类型及检测方案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59582"/>
            <a:ext cx="4016425" cy="1100584"/>
          </a:xfrm>
          <a:prstGeom prst="roundRect">
            <a:avLst>
              <a:gd name="adj" fmla="val 8078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659582"/>
            <a:ext cx="0" cy="110058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300" y="178653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8485" y="1849934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7601" y="1786533"/>
            <a:ext cx="3012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自动识别动作阶段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7601" y="2072283"/>
            <a:ext cx="30121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加权RMSE匹配所有模板，找最相似阶段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7601" y="2354014"/>
            <a:ext cx="1136452" cy="279202"/>
          </a:xfrm>
          <a:prstGeom prst="roundRect">
            <a:avLst>
              <a:gd name="adj" fmla="val 1819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58627" y="238884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无需手动标注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874466"/>
            <a:ext cx="4016425" cy="770632"/>
          </a:xfrm>
          <a:prstGeom prst="roundRect">
            <a:avLst>
              <a:gd name="adj" fmla="val 11536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" y="2874466"/>
            <a:ext cx="0" cy="7706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300" y="300141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8485" y="3064818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7601" y="3001417"/>
            <a:ext cx="26570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量化评分与问题列表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47601" y="3287167"/>
            <a:ext cx="265703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0–100分，问题关节按严重程度排序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59398"/>
            <a:ext cx="4016425" cy="770632"/>
          </a:xfrm>
          <a:prstGeom prst="roundRect">
            <a:avLst>
              <a:gd name="adj" fmla="val 11536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" y="3759398"/>
            <a:ext cx="0" cy="7706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300" y="388634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8485" y="3949750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7601" y="3886349"/>
            <a:ext cx="29000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LLM语义建议（可选）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7601" y="4172099"/>
            <a:ext cx="290007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通义千问 qwen-vl-max 分析握拍等细节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51325" y="774650"/>
            <a:ext cx="4035475" cy="4165699"/>
          </a:xfrm>
          <a:prstGeom prst="roundRect">
            <a:avLst>
              <a:gd name="adj" fmla="val 2518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0" descr="/Users/I072157/科创/tennis_coach/data/docsource/评估模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77240"/>
            <a:ext cx="2671317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31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28600"/>
            <a:ext cx="36366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核心算法：角度计算 · 匹配 · 评分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749201"/>
            <a:ext cx="3956000" cy="1649016"/>
          </a:xfrm>
          <a:prstGeom prst="roundRect">
            <a:avLst>
              <a:gd name="adj" fmla="val 6161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876151"/>
            <a:ext cx="3776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关节角度计算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4150" y="1206252"/>
            <a:ext cx="3702100" cy="526852"/>
          </a:xfrm>
          <a:prstGeom prst="roundRect">
            <a:avLst>
              <a:gd name="adj" fmla="val 12053"/>
            </a:avLst>
          </a:prstGeom>
          <a:solidFill>
            <a:srgbClr val="132B4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472" y="1304627"/>
            <a:ext cx="3575456" cy="33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 θ = (u · v) / (|u| × |v|)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4150" y="1809304"/>
            <a:ext cx="377614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以关节顶点B为原点，向量点积求夹角；支持2D/3D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74416"/>
            <a:ext cx="3956000" cy="596652"/>
          </a:xfrm>
          <a:prstGeom prst="roundRect">
            <a:avLst>
              <a:gd name="adj" fmla="val 10643"/>
            </a:avLst>
          </a:prstGeom>
          <a:solidFill>
            <a:srgbClr val="132B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" y="2474416"/>
            <a:ext cx="0" cy="596652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751" y="2537817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上肢组（4个）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7751" y="2779068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右/左肘角、右/左肩角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47268"/>
            <a:ext cx="3956000" cy="596652"/>
          </a:xfrm>
          <a:prstGeom prst="roundRect">
            <a:avLst>
              <a:gd name="adj" fmla="val 10643"/>
            </a:avLst>
          </a:prstGeom>
          <a:solidFill>
            <a:srgbClr val="132B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" y="3147268"/>
            <a:ext cx="0" cy="59665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751" y="3210669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下肢组（2个）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7751" y="3451920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右/左膝角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20120"/>
            <a:ext cx="3956000" cy="596652"/>
          </a:xfrm>
          <a:prstGeom prst="roundRect">
            <a:avLst>
              <a:gd name="adj" fmla="val 10643"/>
            </a:avLst>
          </a:prstGeom>
          <a:solidFill>
            <a:srgbClr val="132B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" y="3820120"/>
            <a:ext cx="0" cy="5966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751" y="3883521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躯干组（1个）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7751" y="4124771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躯干倾角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65600" y="749201"/>
            <a:ext cx="12650" cy="401329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0651" y="749201"/>
            <a:ext cx="3956149" cy="1843385"/>
          </a:xfrm>
          <a:prstGeom prst="roundRect">
            <a:avLst>
              <a:gd name="adj" fmla="val 5512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7601" y="876151"/>
            <a:ext cx="37762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加权RMSE模板匹配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57601" y="1206252"/>
            <a:ext cx="3702248" cy="526852"/>
          </a:xfrm>
          <a:prstGeom prst="roundRect">
            <a:avLst>
              <a:gd name="adj" fmla="val 12053"/>
            </a:avLst>
          </a:prstGeom>
          <a:solidFill>
            <a:srgbClr val="132B4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20922" y="1304627"/>
            <a:ext cx="3575608" cy="33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= √( Σ wᵢ(θᵢ − θᵢ*)² / Σ wᵢ 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7601" y="1809304"/>
            <a:ext cx="377629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遍历所有模板，取RMSE最小阶段，无需手动标注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57601" y="2141786"/>
            <a:ext cx="1043136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68627" y="2189411"/>
            <a:ext cx="83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肩角 w=2.5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76938" y="2141786"/>
            <a:ext cx="1043136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87963" y="2189411"/>
            <a:ext cx="83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肘角 w=2.0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96274" y="2141786"/>
            <a:ext cx="1043136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207300" y="2189411"/>
            <a:ext cx="83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其余 w=1.0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30651" y="2668786"/>
            <a:ext cx="3956149" cy="1748135"/>
          </a:xfrm>
          <a:prstGeom prst="roundRect">
            <a:avLst>
              <a:gd name="adj" fmla="val 5812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57601" y="2795736"/>
            <a:ext cx="37762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非线性评分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57601" y="3125837"/>
            <a:ext cx="3702248" cy="856952"/>
          </a:xfrm>
          <a:prstGeom prst="roundRect">
            <a:avLst>
              <a:gd name="adj" fmla="val 7410"/>
            </a:avLst>
          </a:prstGeom>
          <a:solidFill>
            <a:srgbClr val="132B4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20922" y="3224213"/>
            <a:ext cx="3575608" cy="33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 = |偏差| / 阈值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20922" y="3554313"/>
            <a:ext cx="3575608" cy="33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= 100 × (1 − Σw·min(ratio²,4) / max_penalty)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57601" y="4058989"/>
            <a:ext cx="377629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偏差越大扣分越多；单角度上限4倍防压垮总分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00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35555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大模型视觉语义分析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901601"/>
            <a:ext cx="3721298" cy="1293316"/>
          </a:xfrm>
          <a:prstGeom prst="roundRect">
            <a:avLst>
              <a:gd name="adj" fmla="val 7856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751" y="1066651"/>
            <a:ext cx="882402" cy="333673"/>
          </a:xfrm>
          <a:prstGeom prst="roundRect">
            <a:avLst>
              <a:gd name="adj" fmla="val 15224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4777" y="1101477"/>
            <a:ext cx="67355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07654" y="1101477"/>
            <a:ext cx="9836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05595" y="1066651"/>
            <a:ext cx="882402" cy="333673"/>
          </a:xfrm>
          <a:prstGeom prst="roundRect">
            <a:avLst>
              <a:gd name="adj" fmla="val 15224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16621" y="1101477"/>
            <a:ext cx="67355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语义理解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3751" y="1501825"/>
            <a:ext cx="3459022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几何角度量化关节偏差，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但无法描述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握拍、眼神、击球点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等细节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8701" y="2321868"/>
            <a:ext cx="3721298" cy="1122164"/>
          </a:xfrm>
          <a:prstGeom prst="roundRect">
            <a:avLst>
              <a:gd name="adj" fmla="val 9054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751" y="2486918"/>
            <a:ext cx="3459022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通义千问 qwen-vl-max</a:t>
            </a:r>
            <a:pPr algn="l" indent="0" marL="0">
              <a:lnSpc>
                <a:spcPts val="2080"/>
              </a:lnSpc>
              <a:buNone/>
            </a:pP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输入：原图 + 角度问题列表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输出：自然语言改进建议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57700" y="901601"/>
            <a:ext cx="4127599" cy="3962549"/>
          </a:xfrm>
          <a:prstGeom prst="roundRect">
            <a:avLst>
              <a:gd name="adj" fmla="val 2564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0850" y="1104751"/>
            <a:ext cx="3795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建议覆盖5个维度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0850" y="1460302"/>
            <a:ext cx="3721298" cy="1923455"/>
          </a:xfrm>
          <a:prstGeom prst="roundRect">
            <a:avLst>
              <a:gd name="adj" fmla="val 3962"/>
            </a:avLst>
          </a:prstGeom>
          <a:solidFill>
            <a:srgbClr val="132B4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326" y="1596777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握拍方式（东方/西方/大陆式）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7326" y="1926878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击球点位置与最佳区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7326" y="2256979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击球点偏差对发力的影响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97326" y="2587079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眼神与头部稳定性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7326" y="2917180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最重要改进建议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0850" y="3510707"/>
            <a:ext cx="3721298" cy="431602"/>
          </a:xfrm>
          <a:prstGeom prst="roundRect">
            <a:avLst>
              <a:gd name="adj" fmla="val 14713"/>
            </a:avLst>
          </a:prstGeom>
          <a:solidFill>
            <a:srgbClr val="132B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70375" y="3510707"/>
            <a:ext cx="0" cy="43160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6851" y="3612207"/>
            <a:ext cx="3517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可选模块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，无API Key时自动跳过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76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03150"/>
            <a:ext cx="984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44502" y="80322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301" y="698450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38BDF8">
              <a:alpha val="7000"/>
            </a:srgbClr>
          </a:solidFill>
          <a:ln w="9525">
            <a:solidFill>
              <a:srgbClr val="38BD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45288" y="784175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静态图像（JPG/PNG）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4951" y="793700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60900" y="698450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38BDF8">
              <a:alpha val="7000"/>
            </a:srgbClr>
          </a:solidFill>
          <a:ln w="9525">
            <a:solidFill>
              <a:srgbClr val="38BD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7888" y="784175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视频文件（MP4等）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3638" y="1168301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4502" y="1523851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8301" y="1419076"/>
            <a:ext cx="3378250" cy="419100"/>
          </a:xfrm>
          <a:prstGeom prst="roundRect">
            <a:avLst>
              <a:gd name="adj" fmla="val 15152"/>
            </a:avLst>
          </a:prstGeom>
          <a:solidFill>
            <a:srgbClr val="63B3ED">
              <a:alpha val="7000"/>
            </a:srgbClr>
          </a:solidFill>
          <a:ln w="9525">
            <a:solidFill>
              <a:srgbClr val="63B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47765" y="1504801"/>
            <a:ext cx="3219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百度人体分析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7301" y="1514326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自动切换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8402" y="1419076"/>
            <a:ext cx="3378398" cy="419100"/>
          </a:xfrm>
          <a:prstGeom prst="roundRect">
            <a:avLst>
              <a:gd name="adj" fmla="val 15152"/>
            </a:avLst>
          </a:prstGeom>
          <a:solidFill>
            <a:srgbClr val="63B3ED">
              <a:alpha val="7000"/>
            </a:srgbClr>
          </a:solidFill>
          <a:ln w="9525">
            <a:solidFill>
              <a:srgbClr val="63B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87864" y="1504801"/>
            <a:ext cx="32194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Pose（本地）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3638" y="1888927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502" y="2244477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8301" y="2139702"/>
            <a:ext cx="7518499" cy="419100"/>
          </a:xfrm>
          <a:prstGeom prst="roundRect">
            <a:avLst>
              <a:gd name="adj" fmla="val 15152"/>
            </a:avLst>
          </a:prstGeom>
          <a:solidFill>
            <a:srgbClr val="64D2C8">
              <a:alpha val="7000"/>
            </a:srgbClr>
          </a:solidFill>
          <a:ln w="9525">
            <a:solidFill>
              <a:srgbClr val="64D2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06362" y="2225427"/>
            <a:ext cx="74423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关节角度计算（calc_angle）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3638" y="2609552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4502" y="2965103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8301" y="2860328"/>
            <a:ext cx="2328267" cy="419100"/>
          </a:xfrm>
          <a:prstGeom prst="roundRect">
            <a:avLst>
              <a:gd name="adj" fmla="val 15152"/>
            </a:avLst>
          </a:prstGeom>
          <a:solidFill>
            <a:srgbClr val="81D4FA">
              <a:alpha val="7000"/>
            </a:srgbClr>
          </a:solidFill>
          <a:ln w="9525">
            <a:solidFill>
              <a:srgbClr val="81D4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58264" y="2946053"/>
            <a:ext cx="21483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加权RMSE模板匹配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47318" y="29698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63268" y="2860328"/>
            <a:ext cx="2328416" cy="419100"/>
          </a:xfrm>
          <a:prstGeom prst="roundRect">
            <a:avLst>
              <a:gd name="adj" fmla="val 15152"/>
            </a:avLst>
          </a:prstGeom>
          <a:solidFill>
            <a:srgbClr val="81D4FA">
              <a:alpha val="7000"/>
            </a:srgbClr>
          </a:solidFill>
          <a:ln w="9525">
            <a:solidFill>
              <a:srgbClr val="81D4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53230" y="2946053"/>
            <a:ext cx="21484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偏差分析 + 评分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42434" y="29698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8384" y="2860328"/>
            <a:ext cx="2328416" cy="419100"/>
          </a:xfrm>
          <a:prstGeom prst="roundRect">
            <a:avLst>
              <a:gd name="adj" fmla="val 15152"/>
            </a:avLst>
          </a:prstGeom>
          <a:solidFill>
            <a:srgbClr val="81D4FA">
              <a:alpha val="7000"/>
            </a:srgbClr>
          </a:solidFill>
          <a:ln w="9525">
            <a:solidFill>
              <a:srgbClr val="81D4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48346" y="2946053"/>
            <a:ext cx="21484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LLM语义建议生成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3638" y="333017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4502" y="3685729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68301" y="3580954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64B4DC">
              <a:alpha val="7000"/>
            </a:srgbClr>
          </a:solidFill>
          <a:ln w="9525">
            <a:solidFill>
              <a:srgbClr val="64B4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45288" y="3666679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标准动作模板库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4951" y="3690491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60900" y="3580954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64B4DC">
              <a:alpha val="7000"/>
            </a:srgbClr>
          </a:solidFill>
          <a:ln w="9525">
            <a:solidFill>
              <a:srgbClr val="64B4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37888" y="3666679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历史评估记录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638" y="4050804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4502" y="4406354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68301" y="4301579"/>
            <a:ext cx="2472333" cy="419100"/>
          </a:xfrm>
          <a:prstGeom prst="roundRect">
            <a:avLst>
              <a:gd name="adj" fmla="val 1515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56824" y="4387304"/>
            <a:ext cx="22952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量化评分（0–100）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91384" y="4301579"/>
            <a:ext cx="2472333" cy="419100"/>
          </a:xfrm>
          <a:prstGeom prst="roundRect">
            <a:avLst>
              <a:gd name="adj" fmla="val 1515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779907" y="4387304"/>
            <a:ext cx="22952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问题关节列表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14467" y="4301579"/>
            <a:ext cx="2472333" cy="419100"/>
          </a:xfrm>
          <a:prstGeom prst="roundRect">
            <a:avLst>
              <a:gd name="adj" fmla="val 1515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02990" y="4387304"/>
            <a:ext cx="22952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自然语言改进建议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628924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1889224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2457450"/>
            <a:ext cx="507950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685901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四组实验设计与结果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3000226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实验结果展示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50" y="3314551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总结与展望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9E0B">
                    <a:alpha val="8000"/>
                  </a:srgbClr>
                </a:solidFill>
              </a:rPr>
              <a:t>03</a:t>
            </a:r>
            <a:endParaRPr lang="en-US" sz="9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265063"/>
            <a:ext cx="50750" cy="2793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051" y="228600"/>
            <a:ext cx="28492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实验一二：图片输入对比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5550" y="733425"/>
            <a:ext cx="4057650" cy="504825"/>
          </a:xfrm>
          <a:prstGeom prst="roundRect">
            <a:avLst>
              <a:gd name="adj" fmla="val 15094"/>
            </a:avLst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7000" y="881063"/>
            <a:ext cx="12262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实验一 · 规范示范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0754" y="828675"/>
            <a:ext cx="6028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5787" y="4375696"/>
            <a:ext cx="995839" cy="193477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输入图片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98300" y="4375696"/>
            <a:ext cx="995839" cy="193477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41049" y="4375696"/>
            <a:ext cx="1991677" cy="193477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 &amp; LLM分析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5550" y="4658023"/>
            <a:ext cx="4057650" cy="307777"/>
          </a:xfrm>
          <a:prstGeom prst="roundRect">
            <a:avLst>
              <a:gd name="adj" fmla="val 20632"/>
            </a:avLst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4600" y="4658023"/>
            <a:ext cx="0" cy="30777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050" y="4721423"/>
            <a:ext cx="3789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所有关节角度达标，动作规范 · LLM 正向评价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5600" y="733425"/>
            <a:ext cx="12650" cy="423237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0651" y="733425"/>
            <a:ext cx="4057799" cy="504825"/>
          </a:xfrm>
          <a:prstGeom prst="roundRect">
            <a:avLst>
              <a:gd name="adj" fmla="val 15094"/>
            </a:avLst>
          </a:prstGeom>
          <a:solidFill>
            <a:srgbClr val="F97316">
              <a:alpha val="12000"/>
            </a:srgbClr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02101" y="881063"/>
            <a:ext cx="13817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实验二 · 不规范示范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48340" y="828675"/>
            <a:ext cx="47803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0888" y="4375696"/>
            <a:ext cx="995839" cy="193477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输入图片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73400" y="4375696"/>
            <a:ext cx="995839" cy="193477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16148" y="4375696"/>
            <a:ext cx="1991829" cy="193477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 &amp; LLM分析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30651" y="4658023"/>
            <a:ext cx="4057799" cy="307777"/>
          </a:xfrm>
          <a:prstGeom prst="roundRect">
            <a:avLst>
              <a:gd name="adj" fmla="val 20632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9701" y="4658023"/>
            <a:ext cx="0" cy="30777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1151" y="4721423"/>
            <a:ext cx="37891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右肘角 36.9°（标准 122.5°），偏差 −85.6° · 针对性建议</a:t>
            </a:r>
            <a:endParaRPr lang="en-US" sz="1000" dirty="0"/>
          </a:p>
        </p:txBody>
      </p:sp>
      <p:pic>
        <p:nvPicPr>
          <p:cNvPr id="23" name="Image 0" descr="/Users/I072157/科创/tennis_coach/data/docsource/正确姿势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7225"/>
            <a:ext cx="857707" cy="1463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3526841"/>
            <a:ext cx="8577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输入图片</a:t>
            </a:r>
            <a:endParaRPr lang="en-US" sz="900" dirty="0"/>
          </a:p>
        </p:txBody>
      </p:sp>
      <p:pic>
        <p:nvPicPr>
          <p:cNvPr id="25" name="Image 1" descr="/Users/I072157/科创/tennis_coach/data/docsource/正确姿势关键点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5530"/>
            <a:ext cx="822046" cy="1463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17320" y="2765146"/>
            <a:ext cx="8220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关键点检测</a:t>
            </a:r>
            <a:endParaRPr lang="en-US" sz="900" dirty="0"/>
          </a:p>
        </p:txBody>
      </p:sp>
      <p:pic>
        <p:nvPicPr>
          <p:cNvPr id="27" name="Image 2" descr="/Users/I072157/科创/tennis_coach/data/docsource/正确姿势大语言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74" y="2817266"/>
            <a:ext cx="2253996" cy="135697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960474" y="4210812"/>
            <a:ext cx="2253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评分 &amp; LLM分析</a:t>
            </a:r>
            <a:endParaRPr lang="en-US" sz="900" dirty="0"/>
          </a:p>
        </p:txBody>
      </p:sp>
      <p:pic>
        <p:nvPicPr>
          <p:cNvPr id="29" name="Image 3" descr="/Users/I072157/科创/tennis_coach/data/docsource/错误姿势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60120"/>
            <a:ext cx="1188720" cy="1463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572000" y="24597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输入图片</a:t>
            </a:r>
            <a:endParaRPr lang="en-US" sz="900" dirty="0"/>
          </a:p>
        </p:txBody>
      </p:sp>
      <p:pic>
        <p:nvPicPr>
          <p:cNvPr id="31" name="Image 4" descr="/Users/I072157/科创/tennis_coach/data/docsource/错误姿势关键点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514600"/>
            <a:ext cx="1188720" cy="1463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72000" y="40142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关键点检测</a:t>
            </a:r>
            <a:endParaRPr lang="en-US" sz="900" dirty="0"/>
          </a:p>
        </p:txBody>
      </p:sp>
      <p:pic>
        <p:nvPicPr>
          <p:cNvPr id="33" name="Image 5" descr="/Users/I072157/科创/tennis_coach/data/docsource/错误姿势大语言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1476756"/>
            <a:ext cx="2560320" cy="19851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897880" y="349849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评分 &amp; LLM分析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实验三四：视频输入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774650"/>
            <a:ext cx="3956000" cy="431602"/>
          </a:xfrm>
          <a:prstGeom prst="roundRect">
            <a:avLst>
              <a:gd name="adj" fmla="val 17655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3675" y="890439"/>
            <a:ext cx="1408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实验三 · 规范动作视频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77989" y="847576"/>
            <a:ext cx="6107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95102"/>
            <a:ext cx="457200" cy="20319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2628" y="3327053"/>
            <a:ext cx="466344" cy="238125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视频截帧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0600" y="1295102"/>
            <a:ext cx="685800" cy="2031950"/>
          </a:xfrm>
          <a:prstGeom prst="roundRect">
            <a:avLst>
              <a:gd name="adj" fmla="val 11111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3742" y="3327053"/>
            <a:ext cx="699516" cy="238125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视频评分结果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651623"/>
            <a:ext cx="3956000" cy="288727"/>
          </a:xfrm>
          <a:prstGeom prst="roundRect">
            <a:avLst>
              <a:gd name="adj" fmla="val 21993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4150" y="4715024"/>
            <a:ext cx="37761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9帧稳定 · 最佳帧97分 · 识别4个动作阶段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65600" y="774650"/>
            <a:ext cx="12650" cy="416569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0651" y="774650"/>
            <a:ext cx="3956149" cy="431602"/>
          </a:xfrm>
          <a:prstGeom prst="roundRect">
            <a:avLst>
              <a:gd name="adj" fmla="val 1765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7126" y="890439"/>
            <a:ext cx="1550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实验四 · 不规范动作视频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1589" y="847576"/>
            <a:ext cx="6107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62.8分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0651" y="1295102"/>
            <a:ext cx="457200" cy="20319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6079" y="3327053"/>
            <a:ext cx="466344" cy="238125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视频截帧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64051" y="1295102"/>
            <a:ext cx="571500" cy="2031950"/>
          </a:xfrm>
          <a:prstGeom prst="roundRect">
            <a:avLst>
              <a:gd name="adj" fmla="val 13333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58336" y="3327053"/>
            <a:ext cx="582930" cy="238125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0651" y="4651623"/>
            <a:ext cx="3956149" cy="288727"/>
          </a:xfrm>
          <a:prstGeom prst="roundRect">
            <a:avLst>
              <a:gd name="adj" fmla="val 21993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7601" y="4715024"/>
            <a:ext cx="37762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左/右肘角、左肩角各5次偏差 · 多帧抑噪有效</a:t>
            </a:r>
            <a:endParaRPr lang="en-US" sz="950" dirty="0"/>
          </a:p>
        </p:txBody>
      </p:sp>
      <p:pic>
        <p:nvPicPr>
          <p:cNvPr id="23" name="Image 0" descr="/Users/I072157/科创/tennis_coach/data/docsource/正确姿势关键帧截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1115568"/>
            <a:ext cx="1283970" cy="20116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29615" y="3163824"/>
            <a:ext cx="12839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视频截帧</a:t>
            </a:r>
            <a:endParaRPr lang="en-US" sz="900" dirty="0"/>
          </a:p>
        </p:txBody>
      </p:sp>
      <p:pic>
        <p:nvPicPr>
          <p:cNvPr id="25" name="Image 1" descr="/Users/I072157/科创/tennis_coach/data/docsource/正确视频结果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62603"/>
            <a:ext cx="1828800" cy="151761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377440" y="291678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视频评分结果</a:t>
            </a:r>
            <a:endParaRPr lang="en-US" sz="900" dirty="0"/>
          </a:p>
        </p:txBody>
      </p:sp>
      <p:pic>
        <p:nvPicPr>
          <p:cNvPr id="27" name="Image 2" descr="/Users/I072157/科创/tennis_coach/data/docsource/错误姿势关键帧截频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75716"/>
            <a:ext cx="1828800" cy="149138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663440" y="29036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视频截帧</a:t>
            </a:r>
            <a:endParaRPr lang="en-US" sz="900" dirty="0"/>
          </a:p>
        </p:txBody>
      </p:sp>
      <p:pic>
        <p:nvPicPr>
          <p:cNvPr id="29" name="Image 3" descr="/Users/I072157/科创/tennis_coach/data/docsource/错误视频关键帧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251" y="1115568"/>
            <a:ext cx="1287658" cy="20116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54251" y="3163824"/>
            <a:ext cx="128765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关键点检测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历史记录与进步追踪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825401"/>
            <a:ext cx="3651349" cy="1026914"/>
          </a:xfrm>
          <a:prstGeom prst="roundRect">
            <a:avLst>
              <a:gd name="adj" fmla="val 865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66725" y="825401"/>
            <a:ext cx="0" cy="102691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1300" y="9650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651" y="1028402"/>
            <a:ext cx="19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601" y="965002"/>
            <a:ext cx="29538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进步曲线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7601" y="1250752"/>
            <a:ext cx="2953816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每次评估自动记录，折线图展示训练趋势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79265"/>
            <a:ext cx="3651349" cy="1026914"/>
          </a:xfrm>
          <a:prstGeom prst="roundRect">
            <a:avLst>
              <a:gd name="adj" fmla="val 8657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979265"/>
            <a:ext cx="0" cy="102691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300" y="211886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651" y="2182267"/>
            <a:ext cx="19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7601" y="2118866"/>
            <a:ext cx="29538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历史评估记录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7601" y="2404616"/>
            <a:ext cx="2953816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保存动作、得分、问题列表，可按学员查询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33130"/>
            <a:ext cx="1149400" cy="793552"/>
          </a:xfrm>
          <a:prstGeom prst="roundRect">
            <a:avLst>
              <a:gd name="adj" fmla="val 11203"/>
            </a:avLst>
          </a:prstGeom>
          <a:solidFill>
            <a:srgbClr val="1E3A5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2008" y="3282255"/>
            <a:ext cx="91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2008" y="3574256"/>
            <a:ext cx="9197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总测试次数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08100" y="3133130"/>
            <a:ext cx="1149548" cy="793552"/>
          </a:xfrm>
          <a:prstGeom prst="roundRect">
            <a:avLst>
              <a:gd name="adj" fmla="val 11203"/>
            </a:avLst>
          </a:prstGeom>
          <a:solidFill>
            <a:srgbClr val="1E3A5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22906" y="3282255"/>
            <a:ext cx="9199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2906" y="3574256"/>
            <a:ext cx="91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59150" y="3133130"/>
            <a:ext cx="1149400" cy="793552"/>
          </a:xfrm>
          <a:prstGeom prst="roundRect">
            <a:avLst>
              <a:gd name="adj" fmla="val 11203"/>
            </a:avLst>
          </a:prstGeom>
          <a:solidFill>
            <a:srgbClr val="1E3A5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73957" y="3282255"/>
            <a:ext cx="91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3957" y="3574256"/>
            <a:ext cx="9197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动作类型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86250" y="825401"/>
            <a:ext cx="4400550" cy="4089499"/>
          </a:xfrm>
          <a:prstGeom prst="roundRect">
            <a:avLst>
              <a:gd name="adj" fmla="val 2484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0" descr="/Users/I072157/科创/tennis_coach/data/docsource/第五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777240"/>
            <a:ext cx="2934061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651" y="304800"/>
            <a:ext cx="12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825401"/>
            <a:ext cx="8026598" cy="681633"/>
          </a:xfrm>
          <a:prstGeom prst="roundRect">
            <a:avLst>
              <a:gd name="adj" fmla="val 13042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8226" y="825401"/>
            <a:ext cx="0" cy="681633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701" y="914251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9501" y="914251"/>
            <a:ext cx="40185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双引擎架构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9501" y="1187202"/>
            <a:ext cx="401857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百度API + MediaPipe，在线/离线切换，检测17关键点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8701" y="1621334"/>
            <a:ext cx="8026598" cy="681633"/>
          </a:xfrm>
          <a:prstGeom prst="roundRect">
            <a:avLst>
              <a:gd name="adj" fmla="val 13042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8226" y="1621334"/>
            <a:ext cx="0" cy="681633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701" y="1710184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9501" y="1710184"/>
            <a:ext cx="33914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量化评分体系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9501" y="1983135"/>
            <a:ext cx="339146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 + 平方惩罚，80次测试成功率95%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8701" y="2417266"/>
            <a:ext cx="8026598" cy="681633"/>
          </a:xfrm>
          <a:prstGeom prst="roundRect">
            <a:avLst>
              <a:gd name="adj" fmla="val 13042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8226" y="2417266"/>
            <a:ext cx="0" cy="681633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701" y="2506117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9501" y="2506117"/>
            <a:ext cx="3381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 + 语义融合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9501" y="2779068"/>
            <a:ext cx="338175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角度偏差量化 × LLM建议，互补覆盖技术细节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8701" y="3213199"/>
            <a:ext cx="8026598" cy="1416844"/>
          </a:xfrm>
          <a:prstGeom prst="roundRect">
            <a:avLst>
              <a:gd name="adj" fmla="val 6275"/>
            </a:avLst>
          </a:prstGeom>
          <a:solidFill>
            <a:srgbClr val="1E3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68226" y="3213199"/>
            <a:ext cx="0" cy="14168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701" y="3302050"/>
            <a:ext cx="79087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当前局限 → 未来方向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701" y="3600450"/>
            <a:ext cx="7908721" cy="31358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模板代表性不足 → 扩充样本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701" y="3914031"/>
            <a:ext cx="7908721" cy="31358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阈值依赖经验 → 数据驱动标定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701" y="4227612"/>
            <a:ext cx="7908721" cy="31358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视频处理慢 → 轻量化/移动端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1050" y="920800"/>
            <a:ext cx="3301901" cy="3301901"/>
          </a:xfrm>
          <a:prstGeom prst="roundRect">
            <a:avLst>
              <a:gd name="adj" fmla="val 27693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2050" y="1301800"/>
            <a:ext cx="2539901" cy="2539901"/>
          </a:xfrm>
          <a:prstGeom prst="roundRect">
            <a:avLst>
              <a:gd name="adj" fmla="val 36001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83050" y="1682800"/>
            <a:ext cx="1777901" cy="1777901"/>
          </a:xfrm>
          <a:prstGeom prst="roundRect">
            <a:avLst>
              <a:gd name="adj" fmla="val 51431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0" y="1357461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57688" y="1647974"/>
            <a:ext cx="43719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860750" y="2754362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7950" y="3360688"/>
            <a:ext cx="507950" cy="25301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49898" y="3538389"/>
            <a:ext cx="1269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基于计算机视觉与大语言模型的网球动作智能教练系统</dc:title>
  <dc:subject>PptxGenJS Presentation</dc:subject>
  <dc:creator>PptxGenJS</dc:creator>
  <cp:lastModifiedBy>PptxGenJS</cp:lastModifiedBy>
  <cp:revision>1</cp:revision>
  <dcterms:created xsi:type="dcterms:W3CDTF">2026-07-28T12:45:47Z</dcterms:created>
  <dcterms:modified xsi:type="dcterms:W3CDTF">2026-07-28T12:45:47Z</dcterms:modified>
</cp:coreProperties>
</file>